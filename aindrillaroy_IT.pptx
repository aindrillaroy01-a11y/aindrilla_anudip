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2" r:id="rId7"/>
    <p:sldId id="261" r:id="rId8"/>
    <p:sldId id="260" r:id="rId9"/>
    <p:sldId id="264" r:id="rId10"/>
    <p:sldId id="265" r:id="rId11"/>
    <p:sldId id="266" r:id="rId12"/>
    <p:sldId id="269" r:id="rId13"/>
    <p:sldId id="268" r:id="rId14"/>
    <p:sldId id="267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82" r:id="rId23"/>
    <p:sldId id="281" r:id="rId24"/>
    <p:sldId id="280" r:id="rId25"/>
    <p:sldId id="279" r:id="rId26"/>
    <p:sldId id="278" r:id="rId27"/>
    <p:sldId id="277" r:id="rId28"/>
    <p:sldId id="287" r:id="rId29"/>
    <p:sldId id="290" r:id="rId30"/>
    <p:sldId id="285" r:id="rId31"/>
    <p:sldId id="284" r:id="rId32"/>
    <p:sldId id="289" r:id="rId33"/>
    <p:sldId id="288" r:id="rId34"/>
    <p:sldId id="291" r:id="rId35"/>
    <p:sldId id="292" r:id="rId36"/>
    <p:sldId id="293" r:id="rId37"/>
    <p:sldId id="298" r:id="rId38"/>
    <p:sldId id="297" r:id="rId39"/>
    <p:sldId id="296" r:id="rId40"/>
    <p:sldId id="295" r:id="rId41"/>
    <p:sldId id="302" r:id="rId42"/>
    <p:sldId id="301" r:id="rId43"/>
    <p:sldId id="300" r:id="rId44"/>
    <p:sldId id="299" r:id="rId45"/>
    <p:sldId id="294" r:id="rId46"/>
    <p:sldId id="303" r:id="rId47"/>
    <p:sldId id="307" r:id="rId48"/>
    <p:sldId id="306" r:id="rId49"/>
    <p:sldId id="305" r:id="rId50"/>
    <p:sldId id="304" r:id="rId51"/>
    <p:sldId id="309" r:id="rId52"/>
    <p:sldId id="314" r:id="rId53"/>
    <p:sldId id="313" r:id="rId54"/>
    <p:sldId id="312" r:id="rId55"/>
    <p:sldId id="311" r:id="rId56"/>
    <p:sldId id="310" r:id="rId57"/>
    <p:sldId id="308" r:id="rId58"/>
    <p:sldId id="319" r:id="rId59"/>
    <p:sldId id="315" r:id="rId60"/>
    <p:sldId id="318" r:id="rId61"/>
    <p:sldId id="317" r:id="rId62"/>
    <p:sldId id="323" r:id="rId63"/>
    <p:sldId id="316" r:id="rId64"/>
    <p:sldId id="322" r:id="rId65"/>
    <p:sldId id="321" r:id="rId66"/>
    <p:sldId id="320" r:id="rId67"/>
    <p:sldId id="328" r:id="rId68"/>
    <p:sldId id="324" r:id="rId69"/>
    <p:sldId id="330" r:id="rId70"/>
    <p:sldId id="329" r:id="rId71"/>
    <p:sldId id="327" r:id="rId72"/>
    <p:sldId id="326" r:id="rId73"/>
    <p:sldId id="325" r:id="rId74"/>
    <p:sldId id="337" r:id="rId75"/>
    <p:sldId id="336" r:id="rId76"/>
    <p:sldId id="335" r:id="rId77"/>
    <p:sldId id="333" r:id="rId78"/>
    <p:sldId id="342" r:id="rId79"/>
    <p:sldId id="332" r:id="rId80"/>
    <p:sldId id="341" r:id="rId81"/>
    <p:sldId id="340" r:id="rId82"/>
    <p:sldId id="338" r:id="rId83"/>
    <p:sldId id="339" r:id="rId84"/>
    <p:sldId id="331" r:id="rId85"/>
    <p:sldId id="360" r:id="rId86"/>
    <p:sldId id="343" r:id="rId87"/>
    <p:sldId id="348" r:id="rId88"/>
    <p:sldId id="347" r:id="rId89"/>
    <p:sldId id="346" r:id="rId90"/>
    <p:sldId id="345" r:id="rId91"/>
    <p:sldId id="352" r:id="rId92"/>
    <p:sldId id="351" r:id="rId93"/>
    <p:sldId id="350" r:id="rId94"/>
    <p:sldId id="349" r:id="rId95"/>
    <p:sldId id="344" r:id="rId96"/>
    <p:sldId id="353" r:id="rId97"/>
    <p:sldId id="354" r:id="rId98"/>
    <p:sldId id="359" r:id="rId99"/>
    <p:sldId id="355" r:id="rId100"/>
    <p:sldId id="358" r:id="rId101"/>
    <p:sldId id="357" r:id="rId102"/>
    <p:sldId id="356" r:id="rId103"/>
    <p:sldId id="363" r:id="rId104"/>
    <p:sldId id="362" r:id="rId105"/>
    <p:sldId id="361" r:id="rId106"/>
    <p:sldId id="365" r:id="rId10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30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3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31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3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93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83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7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39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2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61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531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763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886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295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05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390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5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F7235DD-E976-4D97-BD28-6880FE41E209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CB02A-C718-4ECD-AC4C-9F316330A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2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680F2-1670-0B0E-8051-227BBBCB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338079"/>
            <a:ext cx="9404723" cy="1400530"/>
          </a:xfrm>
        </p:spPr>
        <p:txBody>
          <a:bodyPr/>
          <a:lstStyle/>
          <a:p>
            <a:pPr algn="ctr"/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Why Information Technology (IT) Matters</a:t>
            </a:r>
            <a:endParaRPr lang="en-I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9B7B4-2F02-7DEB-3D76-DF857FC430AF}"/>
              </a:ext>
            </a:extLst>
          </p:cNvPr>
          <p:cNvSpPr txBox="1"/>
          <p:nvPr/>
        </p:nvSpPr>
        <p:spPr>
          <a:xfrm>
            <a:off x="2714920" y="4562573"/>
            <a:ext cx="664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“Information Technology is the backbone of modern business innovation.”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1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FD2A9B-E2CA-5EAE-8B6A-EB6875E7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5BC3F3-0861-86F6-C69B-A7E0817F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68" y="763571"/>
            <a:ext cx="10515600" cy="6094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🚀 </a:t>
            </a:r>
            <a:r>
              <a:rPr lang="en-US" sz="2400" b="1" u="sng" dirty="0"/>
              <a:t>Improves Business Operations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Boosts productivity &amp; efficiency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Enables fast communication &amp; remote work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Ensures secure data storage and sharing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b="1" dirty="0"/>
              <a:t>                                             🌐 </a:t>
            </a:r>
            <a:r>
              <a:rPr lang="en-US" sz="2400" b="1" u="sng" dirty="0"/>
              <a:t>Supports Digital Transformation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       	       1. Integrates technology into business processes 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                  2. Automates tasks and improves decision-making                                                                                                                          								       3. Encourages innovation and growth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b="1" dirty="0"/>
              <a:t>📈 </a:t>
            </a:r>
            <a:r>
              <a:rPr lang="en-US" sz="2400" b="1" u="sng" dirty="0"/>
              <a:t>High Demand &amp; Future Scope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Essential in healthcare, finance &amp; transportation 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Rapidly growing career opportunities 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Strong salaries and future business importance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88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83EA-469B-C3DA-387E-6709D198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Hardware vs Software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2A99-4270-FA1A-4882-FA0486C7C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5996"/>
            <a:ext cx="5181600" cy="463096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/>
              <a:t>💻 Hardware</a:t>
            </a:r>
          </a:p>
          <a:p>
            <a:r>
              <a:rPr lang="en-US" dirty="0"/>
              <a:t>Hardware refers to the physical components of a computer that can be touched and used directly. These devices work together to run a computer system.</a:t>
            </a:r>
          </a:p>
          <a:p>
            <a:r>
              <a:rPr lang="en-US" b="1" dirty="0"/>
              <a:t>Main Hardware Components: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CPU (Central Processing Unit):</a:t>
            </a:r>
            <a:r>
              <a:rPr lang="en-US" dirty="0"/>
              <a:t> Processes instructions and controls operations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Hard Drive:</a:t>
            </a:r>
            <a:r>
              <a:rPr lang="en-US" dirty="0"/>
              <a:t> Stores data, applications, and the operating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RAM (Random Access Memory):</a:t>
            </a:r>
            <a:r>
              <a:rPr lang="en-US" dirty="0"/>
              <a:t> Provides temporary fast storage for running tasks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Motherboard:</a:t>
            </a:r>
            <a:r>
              <a:rPr lang="en-US" dirty="0"/>
              <a:t> Connects and powers all computer components 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2BB1E-5B59-8635-3E67-0145CA5CA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5996"/>
            <a:ext cx="5181600" cy="463096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/>
              <a:t>⚙️ Software</a:t>
            </a:r>
          </a:p>
          <a:p>
            <a:r>
              <a:rPr lang="en-US" dirty="0"/>
              <a:t>Software refers to the programs and applications that run on hardware and help users perform tasks.</a:t>
            </a:r>
          </a:p>
          <a:p>
            <a:r>
              <a:rPr lang="en-US" b="1" dirty="0"/>
              <a:t>Types of Software: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System Software:</a:t>
            </a:r>
            <a:r>
              <a:rPr lang="en-US" dirty="0"/>
              <a:t> Operates and manages the computer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Application Software:</a:t>
            </a:r>
            <a:r>
              <a:rPr lang="en-US" dirty="0"/>
              <a:t> Programs like word processors and web browsers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Utility Software:</a:t>
            </a:r>
            <a:r>
              <a:rPr lang="en-US" dirty="0"/>
              <a:t> Security, antivirus, and disk cleanup tools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2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B42FBB-B8D6-1ADA-5C25-D9AB244F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Core Functions of Information Technology</a:t>
            </a:r>
            <a:br>
              <a:rPr lang="en-US" b="1" dirty="0"/>
            </a:b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A99490-8C3A-F6F9-399A-9121DFA7A1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dirty="0"/>
              <a:t>🏛️ IT Governance</a:t>
            </a:r>
          </a:p>
          <a:p>
            <a:pPr>
              <a:buFont typeface="+mj-lt"/>
              <a:buAutoNum type="arabicPeriod"/>
            </a:pPr>
            <a:r>
              <a:rPr lang="en-US" sz="2300" dirty="0"/>
              <a:t>Aligns IT activities with business goals </a:t>
            </a:r>
          </a:p>
          <a:p>
            <a:pPr>
              <a:buFont typeface="+mj-lt"/>
              <a:buAutoNum type="arabicPeriod"/>
            </a:pPr>
            <a:r>
              <a:rPr lang="en-US" sz="2300" dirty="0"/>
              <a:t>Manages budgeting, resources, and risks </a:t>
            </a:r>
          </a:p>
          <a:p>
            <a:pPr>
              <a:buFont typeface="+mj-lt"/>
              <a:buAutoNum type="arabicPeriod"/>
            </a:pPr>
            <a:r>
              <a:rPr lang="en-US" sz="2300" dirty="0"/>
              <a:t>Ensures policies support organizational strategy </a:t>
            </a:r>
          </a:p>
          <a:p>
            <a:pPr marL="0" indent="0">
              <a:buNone/>
            </a:pPr>
            <a:br>
              <a:rPr lang="en-US" sz="2300" dirty="0"/>
            </a:br>
            <a:endParaRPr lang="en-US" sz="2300" dirty="0"/>
          </a:p>
          <a:p>
            <a:r>
              <a:rPr lang="en-US" sz="3100" b="1" dirty="0"/>
              <a:t>⚙️ IT Operations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Automates daily IT tasks and monitoring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Detects issues early and improves efficiency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Supports remote troubleshooting and updates </a:t>
            </a: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614ECE-974F-A129-AFE8-222FBAE9C8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dirty="0"/>
              <a:t>🔒 Cybersecurity</a:t>
            </a:r>
          </a:p>
          <a:p>
            <a:pPr>
              <a:buFont typeface="+mj-lt"/>
              <a:buAutoNum type="arabicPeriod"/>
            </a:pPr>
            <a:r>
              <a:rPr lang="en-US" dirty="0"/>
              <a:t>Protects systems from malware, phishing, and ransomware </a:t>
            </a:r>
          </a:p>
          <a:p>
            <a:pPr>
              <a:buFont typeface="+mj-lt"/>
              <a:buAutoNum type="arabicPeriod"/>
            </a:pPr>
            <a:r>
              <a:rPr lang="en-US" dirty="0"/>
              <a:t>Secures networks, devices, and cloud environments </a:t>
            </a:r>
          </a:p>
          <a:p>
            <a:pPr>
              <a:buFont typeface="+mj-lt"/>
              <a:buAutoNum type="arabicPeriod"/>
            </a:pPr>
            <a:r>
              <a:rPr lang="en-US" dirty="0"/>
              <a:t>Uses strong passwords, access controls, and regular updates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sz="3400" b="1" dirty="0"/>
              <a:t>🗄️ Data Security &amp; Database Management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Protects valuable organizational data </a:t>
            </a:r>
          </a:p>
          <a:p>
            <a:pPr>
              <a:buFont typeface="+mj-lt"/>
              <a:buAutoNum type="arabicPeriod"/>
            </a:pPr>
            <a:r>
              <a:rPr lang="en-US" dirty="0"/>
              <a:t>Uses DBMS for visibility and control of stored data 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Applies zero-trust and limited-access principles </a:t>
            </a:r>
          </a:p>
          <a:p>
            <a:pPr>
              <a:buFont typeface="+mj-lt"/>
              <a:buAutoNum type="arabicPeriod"/>
            </a:pPr>
            <a:r>
              <a:rPr lang="en-US" dirty="0"/>
              <a:t>Monitors unusual activity to detect threats early </a:t>
            </a:r>
          </a:p>
        </p:txBody>
      </p:sp>
    </p:spTree>
    <p:extLst>
      <p:ext uri="{BB962C8B-B14F-4D97-AF65-F5344CB8AC3E}">
        <p14:creationId xmlns:p14="http://schemas.microsoft.com/office/powerpoint/2010/main" val="221550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ABDBFB2-0425-86ED-ABA2-3F590414CF0F}"/>
              </a:ext>
            </a:extLst>
          </p:cNvPr>
          <p:cNvSpPr/>
          <p:nvPr/>
        </p:nvSpPr>
        <p:spPr>
          <a:xfrm>
            <a:off x="4483980" y="1428553"/>
            <a:ext cx="2696066" cy="24321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Additional Functions of Information Technology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7E7C74-4598-930E-9A84-ED8B319DBF4F}"/>
              </a:ext>
            </a:extLst>
          </p:cNvPr>
          <p:cNvSpPr/>
          <p:nvPr/>
        </p:nvSpPr>
        <p:spPr>
          <a:xfrm>
            <a:off x="707010" y="996884"/>
            <a:ext cx="2488677" cy="25157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💾 Data Backup &amp; Recovery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Protects data from disasters and ransomware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Uses cloud, local, or hybrid backup systems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Ensures important data can be restored quickly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C9DD04-CFA2-FD73-7CD8-A0BF3A8DF67C}"/>
              </a:ext>
            </a:extLst>
          </p:cNvPr>
          <p:cNvSpPr/>
          <p:nvPr/>
        </p:nvSpPr>
        <p:spPr>
          <a:xfrm>
            <a:off x="707010" y="3969934"/>
            <a:ext cx="2488677" cy="25157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🌐 Network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Secures connected devices and networks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Monitors network performance and activity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Helps prevent reinfection and security threats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C9FCDB-5ED3-1944-61A9-7F2867C956C8}"/>
              </a:ext>
            </a:extLst>
          </p:cNvPr>
          <p:cNvSpPr/>
          <p:nvPr/>
        </p:nvSpPr>
        <p:spPr>
          <a:xfrm>
            <a:off x="8411851" y="996885"/>
            <a:ext cx="2696066" cy="25157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📱 Device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Tracks and maintains company devices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Uses MDM and ITAM for monitoring assets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Automates maintenance and lifecycle management </a:t>
            </a:r>
          </a:p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86ABC9-C8C3-A025-940C-4E577F50D9BB}"/>
              </a:ext>
            </a:extLst>
          </p:cNvPr>
          <p:cNvSpPr/>
          <p:nvPr/>
        </p:nvSpPr>
        <p:spPr>
          <a:xfrm>
            <a:off x="8411851" y="3969934"/>
            <a:ext cx="2488677" cy="24321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🛠️ Software Troubleshooting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Detects and fixes software errors and bugs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Uses automated checks and system restarts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Ensures smooth business operations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4EBAF2-A1ED-E9D2-66B5-272779925558}"/>
              </a:ext>
            </a:extLst>
          </p:cNvPr>
          <p:cNvSpPr/>
          <p:nvPr/>
        </p:nvSpPr>
        <p:spPr>
          <a:xfrm>
            <a:off x="4427492" y="4680408"/>
            <a:ext cx="2969405" cy="19749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🖥️ Virtualization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Creates virtual computers on a single machine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Reduces hardware and server costs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Improves flexibility and IT efficiency </a:t>
            </a:r>
          </a:p>
          <a:p>
            <a:pPr algn="ctr"/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E0BFF00-CF2D-BFFC-255C-3397F7990B80}"/>
              </a:ext>
            </a:extLst>
          </p:cNvPr>
          <p:cNvSpPr/>
          <p:nvPr/>
        </p:nvSpPr>
        <p:spPr>
          <a:xfrm rot="10800000">
            <a:off x="3497344" y="2271860"/>
            <a:ext cx="848413" cy="2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592224B-345D-916B-C713-AEA55CA4699A}"/>
              </a:ext>
            </a:extLst>
          </p:cNvPr>
          <p:cNvSpPr/>
          <p:nvPr/>
        </p:nvSpPr>
        <p:spPr>
          <a:xfrm rot="8834930">
            <a:off x="3226820" y="3747264"/>
            <a:ext cx="1240470" cy="2173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88ECFF8-1463-BD13-E304-D6A1F1D579EC}"/>
              </a:ext>
            </a:extLst>
          </p:cNvPr>
          <p:cNvSpPr/>
          <p:nvPr/>
        </p:nvSpPr>
        <p:spPr>
          <a:xfrm rot="1712399">
            <a:off x="7255335" y="3829692"/>
            <a:ext cx="1105247" cy="201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2AEA4BB-1D2C-074C-9208-9907B9A43025}"/>
              </a:ext>
            </a:extLst>
          </p:cNvPr>
          <p:cNvSpPr/>
          <p:nvPr/>
        </p:nvSpPr>
        <p:spPr>
          <a:xfrm>
            <a:off x="7396897" y="2271861"/>
            <a:ext cx="848413" cy="2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C66FFE2-B8F7-ED8E-E03A-F8FD205C74A1}"/>
              </a:ext>
            </a:extLst>
          </p:cNvPr>
          <p:cNvSpPr/>
          <p:nvPr/>
        </p:nvSpPr>
        <p:spPr>
          <a:xfrm rot="5400000">
            <a:off x="5621188" y="4178249"/>
            <a:ext cx="603450" cy="198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1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44BB88-FB85-7497-7CE5-C227F780F227}"/>
              </a:ext>
            </a:extLst>
          </p:cNvPr>
          <p:cNvSpPr/>
          <p:nvPr/>
        </p:nvSpPr>
        <p:spPr>
          <a:xfrm>
            <a:off x="1206631" y="612742"/>
            <a:ext cx="7437748" cy="942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The Importance of Understanding IT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7E014E-260A-6233-F86D-EA6FC70A1FF0}"/>
              </a:ext>
            </a:extLst>
          </p:cNvPr>
          <p:cNvSpPr/>
          <p:nvPr/>
        </p:nvSpPr>
        <p:spPr>
          <a:xfrm>
            <a:off x="1300899" y="1866507"/>
            <a:ext cx="4081806" cy="47228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🌐 Why IT Knowledge Matters</a:t>
            </a:r>
          </a:p>
          <a:p>
            <a:r>
              <a:rPr lang="en-US" sz="1400" dirty="0"/>
              <a:t>IT supports device management, data protection, and business operations </a:t>
            </a:r>
          </a:p>
          <a:p>
            <a:r>
              <a:rPr lang="en-US" sz="1400" dirty="0"/>
              <a:t>Automated tools improve efficiency and reduce manual work </a:t>
            </a:r>
          </a:p>
          <a:p>
            <a:r>
              <a:rPr lang="en-US" sz="1400" dirty="0"/>
              <a:t>Digital technology is becoming essential in everyday life </a:t>
            </a:r>
          </a:p>
          <a:p>
            <a:br>
              <a:rPr lang="en-US" sz="1400" dirty="0"/>
            </a:br>
            <a:endParaRPr lang="en-US" sz="2000" dirty="0"/>
          </a:p>
          <a:p>
            <a:r>
              <a:rPr lang="en-US" sz="2000" b="1" dirty="0"/>
              <a:t>💡 Benefits of Learning IT</a:t>
            </a:r>
          </a:p>
          <a:p>
            <a:r>
              <a:rPr lang="en-US" sz="1400" dirty="0"/>
              <a:t>Helps in troubleshooting technical issues </a:t>
            </a:r>
          </a:p>
          <a:p>
            <a:r>
              <a:rPr lang="en-US" sz="1400" dirty="0"/>
              <a:t>Improves understanding of modern technologies </a:t>
            </a:r>
          </a:p>
          <a:p>
            <a:r>
              <a:rPr lang="en-US" sz="1400" dirty="0"/>
              <a:t>Useful for both IT careers and daily life </a:t>
            </a:r>
          </a:p>
          <a:p>
            <a:r>
              <a:rPr lang="en-US" sz="1400" dirty="0"/>
              <a:t>Builds skills for working in a digital world </a:t>
            </a:r>
          </a:p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DDAB48-D292-26DE-F61B-4778423C961C}"/>
              </a:ext>
            </a:extLst>
          </p:cNvPr>
          <p:cNvSpPr/>
          <p:nvPr/>
        </p:nvSpPr>
        <p:spPr>
          <a:xfrm>
            <a:off x="6702458" y="2469824"/>
            <a:ext cx="3883843" cy="28374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Understanding IT basics helps individuals and organizations work more efficiently, securely, and productively in today’s technology-driven world.</a:t>
            </a:r>
          </a:p>
        </p:txBody>
      </p:sp>
    </p:spTree>
    <p:extLst>
      <p:ext uri="{BB962C8B-B14F-4D97-AF65-F5344CB8AC3E}">
        <p14:creationId xmlns:p14="http://schemas.microsoft.com/office/powerpoint/2010/main" val="236900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F78B-E3AB-C352-97A7-8C1A95CF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28470"/>
            <a:ext cx="9404723" cy="1400530"/>
          </a:xfrm>
        </p:spPr>
        <p:txBody>
          <a:bodyPr/>
          <a:lstStyle/>
          <a:p>
            <a:pPr algn="ctr"/>
            <a:r>
              <a:rPr lang="en-US" b="1" dirty="0"/>
              <a:t>The Role of Information Technology in Modern Business</a:t>
            </a:r>
            <a:br>
              <a:rPr lang="en-US" b="1" dirty="0"/>
            </a:br>
            <a:br>
              <a:rPr lang="en-US" b="1" dirty="0"/>
            </a:br>
            <a:r>
              <a:rPr lang="en-US" sz="1800" dirty="0"/>
              <a:t>Information Technology plays a vital role in modern business by improving communication, efficiency, data management, security, and overall organizational growth.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4639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5DF5FF8-007F-CD6B-0C3B-896B6255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92231"/>
            <a:ext cx="9404723" cy="1400530"/>
          </a:xfrm>
        </p:spPr>
        <p:txBody>
          <a:bodyPr/>
          <a:lstStyle/>
          <a:p>
            <a:pPr algn="ctr"/>
            <a:br>
              <a:rPr lang="en-US" sz="4400" b="1" dirty="0"/>
            </a:br>
            <a:r>
              <a:rPr lang="en-US" sz="5400" b="1" dirty="0"/>
              <a:t>🌐 Introduction</a:t>
            </a:r>
            <a:br>
              <a:rPr lang="en-US" b="1" dirty="0"/>
            </a:br>
            <a:br>
              <a:rPr lang="en-US" b="1" dirty="0"/>
            </a:br>
            <a:r>
              <a:rPr lang="en-US" sz="3200" dirty="0"/>
              <a:t>IT plays a major role in modern businesses </a:t>
            </a:r>
            <a:br>
              <a:rPr lang="en-US" sz="3200" dirty="0"/>
            </a:br>
            <a:r>
              <a:rPr lang="en-US" sz="3200" dirty="0"/>
              <a:t>Helps companies operate faster and smarter </a:t>
            </a:r>
            <a:br>
              <a:rPr lang="en-US" sz="3200" dirty="0"/>
            </a:br>
            <a:r>
              <a:rPr lang="en-US" sz="3200" dirty="0"/>
              <a:t>Improves communication, security, and efficiency </a:t>
            </a:r>
            <a:br>
              <a:rPr lang="en-US" sz="3200" dirty="0"/>
            </a:br>
            <a:r>
              <a:rPr lang="en-US" sz="3200" dirty="0"/>
              <a:t>Supports growth and innovation in the digital world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88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65E535-541C-ECB4-A53F-16691305CEA0}"/>
              </a:ext>
            </a:extLst>
          </p:cNvPr>
          <p:cNvSpPr txBox="1"/>
          <p:nvPr/>
        </p:nvSpPr>
        <p:spPr>
          <a:xfrm>
            <a:off x="593889" y="697584"/>
            <a:ext cx="105957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b="1" dirty="0"/>
          </a:p>
          <a:p>
            <a:r>
              <a:rPr lang="en-US" sz="4000" b="1" dirty="0"/>
              <a:t>🚀 Improved Efficiency and Productivity</a:t>
            </a:r>
          </a:p>
          <a:p>
            <a:endParaRPr lang="en-US" sz="4000" b="1" dirty="0"/>
          </a:p>
          <a:p>
            <a:endParaRPr lang="en-US" sz="4000" b="1" dirty="0"/>
          </a:p>
          <a:p>
            <a:pPr marL="342900" indent="-342900" algn="r">
              <a:buFont typeface="+mj-lt"/>
              <a:buAutoNum type="arabicPeriod"/>
            </a:pPr>
            <a:r>
              <a:rPr lang="en-US" sz="3200" dirty="0"/>
              <a:t>Automates routine tasks and workflows 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3200" dirty="0"/>
              <a:t>Reduces manual errors 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3200" dirty="0"/>
              <a:t>Saves time and resources 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3200" dirty="0"/>
              <a:t>Allows employees to focus on strategic work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12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429B9-3B34-C442-58B9-F6E7EA7D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08" y="1219200"/>
            <a:ext cx="9789566" cy="1981200"/>
          </a:xfrm>
        </p:spPr>
        <p:txBody>
          <a:bodyPr/>
          <a:lstStyle/>
          <a:p>
            <a:r>
              <a:rPr lang="en-US" b="1" dirty="0"/>
              <a:t>💬 Enhanced Communication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77315-F5CD-0FD2-2B21-13218B600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7460" y="2894028"/>
            <a:ext cx="10047231" cy="315797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500" dirty="0"/>
              <a:t>Enables email, messaging, and video conferencing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500" dirty="0"/>
              <a:t>Improves teamwork and collaboration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500" dirty="0"/>
              <a:t>Improves teamwork and collaboration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500" dirty="0"/>
              <a:t>Helps in faster decision-making</a:t>
            </a:r>
            <a:br>
              <a:rPr lang="en-US" sz="3500" dirty="0"/>
            </a:br>
            <a:br>
              <a:rPr lang="en-US" sz="2800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8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48524F-391B-0A4C-36B6-8B3FDCB0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7033"/>
            <a:ext cx="8825659" cy="1559351"/>
          </a:xfrm>
        </p:spPr>
        <p:txBody>
          <a:bodyPr/>
          <a:lstStyle/>
          <a:p>
            <a:r>
              <a:rPr lang="en-US" dirty="0"/>
              <a:t>📊 Data Management and Analysis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E3DE9-7D65-6608-BA9E-D6C2A0B3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591612"/>
            <a:ext cx="9487908" cy="295059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Stores and manages large amounts of data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Uses analytics for better decision-making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Identifies customer trends and market changes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Supports data-driven business strategies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9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942A80-490F-208C-7052-D81E6C2A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1447800"/>
            <a:ext cx="10142220" cy="1981200"/>
          </a:xfrm>
        </p:spPr>
        <p:txBody>
          <a:bodyPr/>
          <a:lstStyle/>
          <a:p>
            <a:r>
              <a:rPr lang="en-IN" sz="4000" dirty="0"/>
              <a:t>🤝 Enhanced Customer Engagement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D4281D-FDF8-59B1-4B2C-19F99010B40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7314" y="2192686"/>
            <a:ext cx="996915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websites, apps, and social media to connect with customers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personalized services through CRM software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customer satisfaction and loyalty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business relationships </a:t>
            </a:r>
          </a:p>
        </p:txBody>
      </p:sp>
    </p:spTree>
    <p:extLst>
      <p:ext uri="{BB962C8B-B14F-4D97-AF65-F5344CB8AC3E}">
        <p14:creationId xmlns:p14="http://schemas.microsoft.com/office/powerpoint/2010/main" val="22560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01250B-5A54-4ED8-AE60-0F77967F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306286"/>
            <a:ext cx="8825659" cy="1681843"/>
          </a:xfrm>
        </p:spPr>
        <p:txBody>
          <a:bodyPr/>
          <a:lstStyle/>
          <a:p>
            <a:r>
              <a:rPr lang="en-US" dirty="0"/>
              <a:t>💡 Innovation and Competitive Advantage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66A9B-B787-4F5C-04ED-84D22C98B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673928"/>
            <a:ext cx="8825659" cy="295547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Encourages use of AI, machine learning, and blockchain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Helps create innovative products and services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Gives businesses a competitive edge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Supports research and development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31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3A90-E669-B5B7-64DF-88E40BCD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876906"/>
            <a:ext cx="9404723" cy="1400530"/>
          </a:xfrm>
        </p:spPr>
        <p:txBody>
          <a:bodyPr/>
          <a:lstStyle/>
          <a:p>
            <a:r>
              <a:rPr lang="en-IN" dirty="0"/>
              <a:t>📦 Supply Chain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10000-F620-445C-66BE-910733E49691}"/>
              </a:ext>
            </a:extLst>
          </p:cNvPr>
          <p:cNvSpPr txBox="1"/>
          <p:nvPr/>
        </p:nvSpPr>
        <p:spPr>
          <a:xfrm>
            <a:off x="1771650" y="2996293"/>
            <a:ext cx="8515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Tracks inventory and logistics efficiently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Improves demand forecasting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Reduces operational costs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Ensures timely product delivery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895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F2CD-F23A-FF91-7A99-4F1606A2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1562100"/>
            <a:ext cx="11919857" cy="1981200"/>
          </a:xfrm>
        </p:spPr>
        <p:txBody>
          <a:bodyPr/>
          <a:lstStyle/>
          <a:p>
            <a:r>
              <a:rPr lang="en-US" dirty="0"/>
              <a:t>🔒 Security and Risk Management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1902AC-933E-5C5C-21C1-5BDED59439E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494065" y="3429000"/>
            <a:ext cx="10067958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data from cyber threats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firewalls, encryption, and security systems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customer trust and company reputation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risks of data breaches </a:t>
            </a:r>
          </a:p>
        </p:txBody>
      </p:sp>
    </p:spTree>
    <p:extLst>
      <p:ext uri="{BB962C8B-B14F-4D97-AF65-F5344CB8AC3E}">
        <p14:creationId xmlns:p14="http://schemas.microsoft.com/office/powerpoint/2010/main" val="2027155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63DB-6739-56D8-6D30-0D3FF112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275" y="1447800"/>
            <a:ext cx="8825659" cy="1981200"/>
          </a:xfrm>
        </p:spPr>
        <p:txBody>
          <a:bodyPr/>
          <a:lstStyle/>
          <a:p>
            <a:r>
              <a:rPr lang="en-IN" dirty="0"/>
              <a:t>💰 Cost Reduction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E0FA8-2F3E-2669-F5D1-7DC06DB77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67275" y="3429000"/>
            <a:ext cx="8825659" cy="2362200"/>
          </a:xfrm>
        </p:spPr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Automation lowers operational expenses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Cloud computing reduces hardware costs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Efficient systems save time and money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Improves overall business performance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90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ADE6-E74E-A45B-667B-930F440A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A823A7-0869-508C-362B-EE75CBF97D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60989" y="3063406"/>
            <a:ext cx="118609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the backbone of modern business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productivity, communication, and innovation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businesses stay competitive in the digital era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must adapt to new technologies for future growth </a:t>
            </a:r>
          </a:p>
        </p:txBody>
      </p:sp>
    </p:spTree>
    <p:extLst>
      <p:ext uri="{BB962C8B-B14F-4D97-AF65-F5344CB8AC3E}">
        <p14:creationId xmlns:p14="http://schemas.microsoft.com/office/powerpoint/2010/main" val="2364565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5C4078-339D-D47B-7A21-4E8C678EEF3C}"/>
              </a:ext>
            </a:extLst>
          </p:cNvPr>
          <p:cNvSpPr txBox="1"/>
          <p:nvPr/>
        </p:nvSpPr>
        <p:spPr>
          <a:xfrm>
            <a:off x="996043" y="2383971"/>
            <a:ext cx="10025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Enterprise Resource Planning (ERP)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FE470-06A6-9184-2661-67445266A57D}"/>
              </a:ext>
            </a:extLst>
          </p:cNvPr>
          <p:cNvSpPr txBox="1"/>
          <p:nvPr/>
        </p:nvSpPr>
        <p:spPr>
          <a:xfrm>
            <a:off x="2098220" y="4523014"/>
            <a:ext cx="80091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Meaning,</a:t>
            </a: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Components, </a:t>
            </a: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and Examples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966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A920E5-027D-9E7B-4298-2FDA467A07A2}"/>
              </a:ext>
            </a:extLst>
          </p:cNvPr>
          <p:cNvSpPr txBox="1"/>
          <p:nvPr/>
        </p:nvSpPr>
        <p:spPr>
          <a:xfrm>
            <a:off x="726622" y="1951264"/>
            <a:ext cx="43434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cap="all" dirty="0"/>
              <a:t>Definition</a:t>
            </a:r>
          </a:p>
          <a:p>
            <a:endParaRPr lang="en-US" sz="3200" cap="all" dirty="0"/>
          </a:p>
          <a:p>
            <a:endParaRPr lang="en-US" sz="3200" cap="all" dirty="0"/>
          </a:p>
          <a:p>
            <a:r>
              <a:rPr lang="en-US" dirty="0"/>
              <a:t>Enterprise Resource Planning (ERP) integrates and manages a company's core business processes to streamline operations and improve communication across departments.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78328-25C4-1A4B-011E-4A8F9F860C67}"/>
              </a:ext>
            </a:extLst>
          </p:cNvPr>
          <p:cNvSpPr txBox="1"/>
          <p:nvPr/>
        </p:nvSpPr>
        <p:spPr>
          <a:xfrm>
            <a:off x="6564086" y="1453243"/>
            <a:ext cx="4833257" cy="487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57A47-A437-BFE9-3257-3F61D176B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68" y="1139884"/>
            <a:ext cx="6268453" cy="550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55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262D82-097D-BEEE-E97D-AD266B17103C}"/>
              </a:ext>
            </a:extLst>
          </p:cNvPr>
          <p:cNvSpPr/>
          <p:nvPr/>
        </p:nvSpPr>
        <p:spPr>
          <a:xfrm>
            <a:off x="2093495" y="1840831"/>
            <a:ext cx="3320716" cy="22017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ERP software integrates core business functions such as finance, operations, and human resources into a single system.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272C4-3D0C-091E-B681-1F316E7AECA3}"/>
              </a:ext>
            </a:extLst>
          </p:cNvPr>
          <p:cNvSpPr/>
          <p:nvPr/>
        </p:nvSpPr>
        <p:spPr>
          <a:xfrm>
            <a:off x="6096000" y="4277226"/>
            <a:ext cx="3320716" cy="22017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Benefits include improved efficiency, better data visibility, and streamlined reporting.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AD6027-C240-5577-F7A8-9AF9533CB06B}"/>
              </a:ext>
            </a:extLst>
          </p:cNvPr>
          <p:cNvSpPr/>
          <p:nvPr/>
        </p:nvSpPr>
        <p:spPr>
          <a:xfrm>
            <a:off x="2093495" y="4277226"/>
            <a:ext cx="3320716" cy="22017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Many ERP systems are cloud-based, allowing remote access and real-time data sharing.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A5CF5-E419-A77C-93A0-7B5C8D83D851}"/>
              </a:ext>
            </a:extLst>
          </p:cNvPr>
          <p:cNvSpPr/>
          <p:nvPr/>
        </p:nvSpPr>
        <p:spPr>
          <a:xfrm>
            <a:off x="6011779" y="1840830"/>
            <a:ext cx="3320716" cy="22017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ERP solutions are highly customizable but require careful implementation.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C4A1B-1BFE-1AC3-9A7D-28F9648039E0}"/>
              </a:ext>
            </a:extLst>
          </p:cNvPr>
          <p:cNvSpPr txBox="1"/>
          <p:nvPr/>
        </p:nvSpPr>
        <p:spPr>
          <a:xfrm>
            <a:off x="2093495" y="457200"/>
            <a:ext cx="7531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1370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9AADB0D-6457-F210-1834-69CA38718569}"/>
              </a:ext>
            </a:extLst>
          </p:cNvPr>
          <p:cNvSpPr/>
          <p:nvPr/>
        </p:nvSpPr>
        <p:spPr>
          <a:xfrm>
            <a:off x="4822658" y="1419726"/>
            <a:ext cx="2947736" cy="19009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Areas Managed by ERP</a:t>
            </a:r>
            <a:endParaRPr lang="en-IN" sz="2800" dirty="0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BF08798A-B13D-33B8-876F-098C3B0EE5E4}"/>
              </a:ext>
            </a:extLst>
          </p:cNvPr>
          <p:cNvSpPr/>
          <p:nvPr/>
        </p:nvSpPr>
        <p:spPr>
          <a:xfrm>
            <a:off x="854242" y="1913019"/>
            <a:ext cx="3043989" cy="782053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Finance &amp; Accounting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CCFC23A-F5CB-3F23-D114-7BE9F7A3D96B}"/>
              </a:ext>
            </a:extLst>
          </p:cNvPr>
          <p:cNvSpPr/>
          <p:nvPr/>
        </p:nvSpPr>
        <p:spPr>
          <a:xfrm>
            <a:off x="8694821" y="1870913"/>
            <a:ext cx="3043989" cy="782053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Purchasing &amp; Supply Chain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6B0B990A-CBFC-C3B5-B1A9-C9F2B6D69FE5}"/>
              </a:ext>
            </a:extLst>
          </p:cNvPr>
          <p:cNvSpPr/>
          <p:nvPr/>
        </p:nvSpPr>
        <p:spPr>
          <a:xfrm>
            <a:off x="8510337" y="3814008"/>
            <a:ext cx="3043989" cy="782053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Sales &amp; Marketing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ADAC446E-785B-E2B7-760B-9448191C0799}"/>
              </a:ext>
            </a:extLst>
          </p:cNvPr>
          <p:cNvSpPr/>
          <p:nvPr/>
        </p:nvSpPr>
        <p:spPr>
          <a:xfrm>
            <a:off x="4995111" y="5149515"/>
            <a:ext cx="3043989" cy="782053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Inventory Management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219075D-D9FC-2146-0AC8-03F78692786F}"/>
              </a:ext>
            </a:extLst>
          </p:cNvPr>
          <p:cNvSpPr/>
          <p:nvPr/>
        </p:nvSpPr>
        <p:spPr>
          <a:xfrm>
            <a:off x="1307432" y="3645567"/>
            <a:ext cx="3043989" cy="782053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Human Resources (HR)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489BA647-4C5F-EE0F-3923-A6501D070B63}"/>
              </a:ext>
            </a:extLst>
          </p:cNvPr>
          <p:cNvSpPr/>
          <p:nvPr/>
        </p:nvSpPr>
        <p:spPr>
          <a:xfrm>
            <a:off x="4030579" y="2093495"/>
            <a:ext cx="625642" cy="276726"/>
          </a:xfrm>
          <a:prstGeom prst="left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95A1610A-0DDE-D8E9-49DB-6E87268F5580}"/>
              </a:ext>
            </a:extLst>
          </p:cNvPr>
          <p:cNvSpPr/>
          <p:nvPr/>
        </p:nvSpPr>
        <p:spPr>
          <a:xfrm>
            <a:off x="6226342" y="3429000"/>
            <a:ext cx="376989" cy="1419726"/>
          </a:xfrm>
          <a:prstGeom prst="down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8FB7D30-D542-AD56-E9B5-087B68ED48EE}"/>
              </a:ext>
            </a:extLst>
          </p:cNvPr>
          <p:cNvSpPr/>
          <p:nvPr/>
        </p:nvSpPr>
        <p:spPr>
          <a:xfrm>
            <a:off x="7892716" y="2189747"/>
            <a:ext cx="617621" cy="180474"/>
          </a:xfrm>
          <a:prstGeom prst="right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2732869-91A4-195C-4E1E-93080BF2EE6F}"/>
              </a:ext>
            </a:extLst>
          </p:cNvPr>
          <p:cNvSpPr/>
          <p:nvPr/>
        </p:nvSpPr>
        <p:spPr>
          <a:xfrm rot="2949988">
            <a:off x="4789963" y="3165436"/>
            <a:ext cx="239270" cy="999880"/>
          </a:xfrm>
          <a:prstGeom prst="down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43E0928-1F29-BA8D-522F-B442BC007983}"/>
              </a:ext>
            </a:extLst>
          </p:cNvPr>
          <p:cNvSpPr/>
          <p:nvPr/>
        </p:nvSpPr>
        <p:spPr>
          <a:xfrm rot="18883280">
            <a:off x="7817196" y="3145626"/>
            <a:ext cx="239270" cy="999880"/>
          </a:xfrm>
          <a:prstGeom prst="down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39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7932-3E9E-98E9-ED85-F1FACB66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355137-2C6A-8CC1-3993-B79B7B5FD32B}"/>
              </a:ext>
            </a:extLst>
          </p:cNvPr>
          <p:cNvSpPr txBox="1"/>
          <p:nvPr/>
        </p:nvSpPr>
        <p:spPr>
          <a:xfrm>
            <a:off x="1752600" y="583644"/>
            <a:ext cx="97231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Main Functions of ERP</a:t>
            </a:r>
          </a:p>
          <a:p>
            <a:endParaRPr lang="en-IN" dirty="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0C55741A-F0B1-7E58-5107-BC28456C9ACA}"/>
              </a:ext>
            </a:extLst>
          </p:cNvPr>
          <p:cNvSpPr/>
          <p:nvPr/>
        </p:nvSpPr>
        <p:spPr>
          <a:xfrm>
            <a:off x="1752600" y="1798320"/>
            <a:ext cx="7505700" cy="67056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07CFE39-0F73-E012-47C2-66F64CC2553C}"/>
              </a:ext>
            </a:extLst>
          </p:cNvPr>
          <p:cNvSpPr/>
          <p:nvPr/>
        </p:nvSpPr>
        <p:spPr>
          <a:xfrm>
            <a:off x="1699260" y="2651760"/>
            <a:ext cx="7505700" cy="67056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DEB5CE5-2E51-AD9C-6AC4-761A85383956}"/>
              </a:ext>
            </a:extLst>
          </p:cNvPr>
          <p:cNvSpPr/>
          <p:nvPr/>
        </p:nvSpPr>
        <p:spPr>
          <a:xfrm>
            <a:off x="1699260" y="3535681"/>
            <a:ext cx="7505700" cy="67056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Finance Management: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Maintains accounting and financial records 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E181470-F106-344D-3499-C4FA80543172}"/>
              </a:ext>
            </a:extLst>
          </p:cNvPr>
          <p:cNvSpPr/>
          <p:nvPr/>
        </p:nvSpPr>
        <p:spPr>
          <a:xfrm>
            <a:off x="1699260" y="4396740"/>
            <a:ext cx="7505700" cy="67056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Human Resource Management: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Manages employee data and payroll 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05A31B3-8ACF-4265-9965-4AD58F0E8897}"/>
              </a:ext>
            </a:extLst>
          </p:cNvPr>
          <p:cNvSpPr/>
          <p:nvPr/>
        </p:nvSpPr>
        <p:spPr>
          <a:xfrm>
            <a:off x="1699260" y="5250180"/>
            <a:ext cx="7505700" cy="67056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Customer &amp; Sales Management: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Improves customer service and sales tracking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7439C53-DF87-89FD-79AC-30D86E358BC1}"/>
              </a:ext>
            </a:extLst>
          </p:cNvPr>
          <p:cNvSpPr/>
          <p:nvPr/>
        </p:nvSpPr>
        <p:spPr>
          <a:xfrm>
            <a:off x="1699260" y="1798319"/>
            <a:ext cx="7505700" cy="67056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/>
              <a:t> Helps in business planning and resource allocation 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8DEFBF2B-D324-4935-1DBD-F0A38A64AE81}"/>
              </a:ext>
            </a:extLst>
          </p:cNvPr>
          <p:cNvSpPr/>
          <p:nvPr/>
        </p:nvSpPr>
        <p:spPr>
          <a:xfrm>
            <a:off x="1699260" y="2651759"/>
            <a:ext cx="7505700" cy="67056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Inventory Management: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Tracks stock levels and product movement </a:t>
            </a:r>
          </a:p>
        </p:txBody>
      </p:sp>
    </p:spTree>
    <p:extLst>
      <p:ext uri="{BB962C8B-B14F-4D97-AF65-F5344CB8AC3E}">
        <p14:creationId xmlns:p14="http://schemas.microsoft.com/office/powerpoint/2010/main" val="140833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E2CB9B1-A127-1CD5-0737-B97A1A5A290E}"/>
              </a:ext>
            </a:extLst>
          </p:cNvPr>
          <p:cNvSpPr/>
          <p:nvPr/>
        </p:nvSpPr>
        <p:spPr>
          <a:xfrm>
            <a:off x="1463040" y="1295400"/>
            <a:ext cx="3604260" cy="6477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🌐 Advantages of ERP Systems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D078370-19B5-7136-C092-DF401CBFEEE6}"/>
              </a:ext>
            </a:extLst>
          </p:cNvPr>
          <p:cNvSpPr/>
          <p:nvPr/>
        </p:nvSpPr>
        <p:spPr>
          <a:xfrm>
            <a:off x="5798820" y="1295400"/>
            <a:ext cx="3604260" cy="6477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🎯 Benefits of ERP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94A392-39DB-6E1E-98FF-0D1C431791E9}"/>
              </a:ext>
            </a:extLst>
          </p:cNvPr>
          <p:cNvSpPr/>
          <p:nvPr/>
        </p:nvSpPr>
        <p:spPr>
          <a:xfrm>
            <a:off x="1463040" y="2179320"/>
            <a:ext cx="3383280" cy="4419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Faster communication between departments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Better data accuracy and reporting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Improved customer satisfaction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Reduces operational costs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Enhances business growth and scalability </a:t>
            </a:r>
          </a:p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63A60D-B611-C7E2-CB49-74289B6773FC}"/>
              </a:ext>
            </a:extLst>
          </p:cNvPr>
          <p:cNvSpPr/>
          <p:nvPr/>
        </p:nvSpPr>
        <p:spPr>
          <a:xfrm>
            <a:off x="5798820" y="2179320"/>
            <a:ext cx="3383280" cy="4419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Increases efficiency and productivity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Reduces duplication of work and errors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Provides real-time business information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Supports better decision-making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243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04AE6-C921-7276-77BE-1F6C4B048E9D}"/>
              </a:ext>
            </a:extLst>
          </p:cNvPr>
          <p:cNvSpPr txBox="1"/>
          <p:nvPr/>
        </p:nvSpPr>
        <p:spPr>
          <a:xfrm>
            <a:off x="1203960" y="1546860"/>
            <a:ext cx="7612380" cy="132343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/>
              <a:t>Understanding Enterprise Resource Planning (ERP)</a:t>
            </a: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117BAF11-8EA8-5908-4CF3-80019961F321}"/>
              </a:ext>
            </a:extLst>
          </p:cNvPr>
          <p:cNvSpPr/>
          <p:nvPr/>
        </p:nvSpPr>
        <p:spPr>
          <a:xfrm>
            <a:off x="1059180" y="2979420"/>
            <a:ext cx="8084820" cy="3337560"/>
          </a:xfrm>
          <a:prstGeom prst="snip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ERP connects different departments through a unified platform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Enables smooth data sharing across the organization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Eliminates isolated working systems (silos)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Provides a single interface for managing business functions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Improves visibility and coordination between departments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Integrates functions like finance, operations, and HR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Reduces duplication of work and processes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Supports faster and more efficient decision-making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737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FB95431-9EFA-E481-9F4B-0CFF6693A7B6}"/>
              </a:ext>
            </a:extLst>
          </p:cNvPr>
          <p:cNvSpPr/>
          <p:nvPr/>
        </p:nvSpPr>
        <p:spPr>
          <a:xfrm>
            <a:off x="3680460" y="1621155"/>
            <a:ext cx="490728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Application Selection</a:t>
            </a:r>
            <a:endParaRPr lang="en-IN" dirty="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70E65FE0-2B89-8EE8-A25A-3AD019E136A3}"/>
              </a:ext>
            </a:extLst>
          </p:cNvPr>
          <p:cNvSpPr/>
          <p:nvPr/>
        </p:nvSpPr>
        <p:spPr>
          <a:xfrm>
            <a:off x="4145280" y="2453641"/>
            <a:ext cx="515874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 dirty="0"/>
              <a:t>Cloud-Based Setup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EBDFF0C-4D1B-CB9C-C11F-9A1B43E1DA39}"/>
              </a:ext>
            </a:extLst>
          </p:cNvPr>
          <p:cNvSpPr/>
          <p:nvPr/>
        </p:nvSpPr>
        <p:spPr>
          <a:xfrm>
            <a:off x="4861560" y="3284221"/>
            <a:ext cx="515874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/>
              <a:t>Integration Process</a:t>
            </a:r>
            <a:endParaRPr lang="en-US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B4C9044-3C40-7E53-BFF1-9E96B0755FE1}"/>
              </a:ext>
            </a:extLst>
          </p:cNvPr>
          <p:cNvSpPr/>
          <p:nvPr/>
        </p:nvSpPr>
        <p:spPr>
          <a:xfrm>
            <a:off x="5760720" y="4139566"/>
            <a:ext cx="515874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/>
              <a:t> Centralized Data Storage</a:t>
            </a:r>
            <a:endParaRPr lang="en-US" b="1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DD5A815-0D30-BE27-BF6A-93BE2A23AAF1}"/>
              </a:ext>
            </a:extLst>
          </p:cNvPr>
          <p:cNvSpPr/>
          <p:nvPr/>
        </p:nvSpPr>
        <p:spPr>
          <a:xfrm>
            <a:off x="6461760" y="4975860"/>
            <a:ext cx="515874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/>
              <a:t>Access &amp; Reporting</a:t>
            </a:r>
            <a:endParaRPr lang="en-US" b="1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FD49DCAB-22EE-E1E5-EFC5-9F482D66BA43}"/>
              </a:ext>
            </a:extLst>
          </p:cNvPr>
          <p:cNvSpPr/>
          <p:nvPr/>
        </p:nvSpPr>
        <p:spPr>
          <a:xfrm>
            <a:off x="6934200" y="5806440"/>
            <a:ext cx="5158740" cy="54864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/>
              <a:t>Better Decision-Making</a:t>
            </a:r>
            <a:endParaRPr lang="en-US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F68790-B6A7-6561-46B1-44CD977DEC40}"/>
              </a:ext>
            </a:extLst>
          </p:cNvPr>
          <p:cNvSpPr/>
          <p:nvPr/>
        </p:nvSpPr>
        <p:spPr>
          <a:xfrm>
            <a:off x="868680" y="4139566"/>
            <a:ext cx="3832860" cy="21012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How Enterprise Resource Planning (ERP) Platforms Work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94971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14D69E2B-251E-DB5D-2757-A8AEA476A119}"/>
              </a:ext>
            </a:extLst>
          </p:cNvPr>
          <p:cNvSpPr/>
          <p:nvPr/>
        </p:nvSpPr>
        <p:spPr>
          <a:xfrm>
            <a:off x="2110740" y="1615440"/>
            <a:ext cx="7726680" cy="74676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ERP Working 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57273-D808-B6DF-F1FA-51E40021E614}"/>
              </a:ext>
            </a:extLst>
          </p:cNvPr>
          <p:cNvSpPr/>
          <p:nvPr/>
        </p:nvSpPr>
        <p:spPr>
          <a:xfrm>
            <a:off x="2575560" y="2659380"/>
            <a:ext cx="7002780" cy="3840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Businesses choose the ERP applications they need for operations such as finance, HR, sales, and inventory.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ERP provider hosts the software on cloud servers using a subscription/service model.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Business data and processes are integrated into the ERP platform.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 department data is stored in one centralized system and shared in real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Authorized users can access data instantly and generate reports, graphs, and performance metrics.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Real-time insights improve coordination, efficiency, and business decisions.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414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A3F4E5C-FD68-4BC5-C02B-9AF4E23DCDA5}"/>
              </a:ext>
            </a:extLst>
          </p:cNvPr>
          <p:cNvSpPr/>
          <p:nvPr/>
        </p:nvSpPr>
        <p:spPr>
          <a:xfrm>
            <a:off x="6271260" y="1409700"/>
            <a:ext cx="4747260" cy="51054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Types of ERP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A9C1F-9C45-E2D9-A0D0-96E233B07CBE}"/>
              </a:ext>
            </a:extLst>
          </p:cNvPr>
          <p:cNvSpPr/>
          <p:nvPr/>
        </p:nvSpPr>
        <p:spPr>
          <a:xfrm>
            <a:off x="6400800" y="2110740"/>
            <a:ext cx="4320540" cy="411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3B6D4-3C60-2436-BE97-195D9D2245AA}"/>
              </a:ext>
            </a:extLst>
          </p:cNvPr>
          <p:cNvSpPr txBox="1"/>
          <p:nvPr/>
        </p:nvSpPr>
        <p:spPr>
          <a:xfrm>
            <a:off x="6743700" y="2545080"/>
            <a:ext cx="37414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Cloud ERP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Hosted online with remote access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On-Premises ERP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Installed and managed on company servers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Hybrid ERP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Combination of cloud and on-premises systems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Industry-Specific ERP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Customized for specific industries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Mobile ERP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Access ERP functions through mobile devices </a:t>
            </a:r>
          </a:p>
          <a:p>
            <a:endParaRPr lang="en-IN" dirty="0"/>
          </a:p>
        </p:txBody>
      </p:sp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976DDC97-9DC1-9299-D56F-D49596B41A31}"/>
              </a:ext>
            </a:extLst>
          </p:cNvPr>
          <p:cNvSpPr/>
          <p:nvPr/>
        </p:nvSpPr>
        <p:spPr>
          <a:xfrm>
            <a:off x="1028700" y="1562100"/>
            <a:ext cx="4145280" cy="4594860"/>
          </a:xfrm>
          <a:prstGeom prst="vertic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ERP systems are designed to meet different business needs and organizational sizes. Companies may choose one or combine multiple ERP solutions based on their operations and goals.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437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DACBFD-2392-DDF3-903A-E920B53CE958}"/>
              </a:ext>
            </a:extLst>
          </p:cNvPr>
          <p:cNvSpPr/>
          <p:nvPr/>
        </p:nvSpPr>
        <p:spPr>
          <a:xfrm>
            <a:off x="1607820" y="2400299"/>
            <a:ext cx="73152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ERP Systems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DD5D39-9D2C-7257-97FE-69217E5871BC}"/>
              </a:ext>
            </a:extLst>
          </p:cNvPr>
          <p:cNvCxnSpPr>
            <a:cxnSpLocks/>
          </p:cNvCxnSpPr>
          <p:nvPr/>
        </p:nvCxnSpPr>
        <p:spPr>
          <a:xfrm>
            <a:off x="6370320" y="3124200"/>
            <a:ext cx="616267" cy="133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970F8E-8F93-AECC-CF70-A8A4668681EC}"/>
              </a:ext>
            </a:extLst>
          </p:cNvPr>
          <p:cNvCxnSpPr>
            <a:cxnSpLocks/>
          </p:cNvCxnSpPr>
          <p:nvPr/>
        </p:nvCxnSpPr>
        <p:spPr>
          <a:xfrm>
            <a:off x="5030152" y="3070859"/>
            <a:ext cx="27623" cy="137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9F2250-3AAF-3C0A-184E-4567ED911E69}"/>
              </a:ext>
            </a:extLst>
          </p:cNvPr>
          <p:cNvCxnSpPr>
            <a:cxnSpLocks/>
          </p:cNvCxnSpPr>
          <p:nvPr/>
        </p:nvCxnSpPr>
        <p:spPr>
          <a:xfrm flipH="1">
            <a:off x="3056096" y="3070859"/>
            <a:ext cx="578644" cy="137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24774A-727F-2848-4E7C-CA0DCC094748}"/>
              </a:ext>
            </a:extLst>
          </p:cNvPr>
          <p:cNvCxnSpPr>
            <a:cxnSpLocks/>
          </p:cNvCxnSpPr>
          <p:nvPr/>
        </p:nvCxnSpPr>
        <p:spPr>
          <a:xfrm flipH="1">
            <a:off x="995363" y="3002280"/>
            <a:ext cx="1977389" cy="145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3F1369-B17E-E3A0-EC2C-533064547DDB}"/>
              </a:ext>
            </a:extLst>
          </p:cNvPr>
          <p:cNvCxnSpPr>
            <a:cxnSpLocks/>
          </p:cNvCxnSpPr>
          <p:nvPr/>
        </p:nvCxnSpPr>
        <p:spPr>
          <a:xfrm>
            <a:off x="7455217" y="3070859"/>
            <a:ext cx="1658303" cy="138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6CE64C-8E57-4047-D8BD-EE072505138E}"/>
              </a:ext>
            </a:extLst>
          </p:cNvPr>
          <p:cNvCxnSpPr>
            <a:cxnSpLocks/>
          </p:cNvCxnSpPr>
          <p:nvPr/>
        </p:nvCxnSpPr>
        <p:spPr>
          <a:xfrm>
            <a:off x="8534400" y="3070859"/>
            <a:ext cx="2575560" cy="138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D66A1CE-BC65-7346-348B-4FC9586E5B00}"/>
              </a:ext>
            </a:extLst>
          </p:cNvPr>
          <p:cNvSpPr/>
          <p:nvPr/>
        </p:nvSpPr>
        <p:spPr>
          <a:xfrm>
            <a:off x="12954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On-Premise ERP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E30D8-30C7-341A-F2F9-93069A25EA49}"/>
              </a:ext>
            </a:extLst>
          </p:cNvPr>
          <p:cNvSpPr/>
          <p:nvPr/>
        </p:nvSpPr>
        <p:spPr>
          <a:xfrm>
            <a:off x="212598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ERP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D36FA2-2C6B-615D-2B08-4E06B3709243}"/>
              </a:ext>
            </a:extLst>
          </p:cNvPr>
          <p:cNvSpPr/>
          <p:nvPr/>
        </p:nvSpPr>
        <p:spPr>
          <a:xfrm>
            <a:off x="412242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Industry-Specific ERP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967BBA-908A-8D6C-3B08-F0090BA3A81C}"/>
              </a:ext>
            </a:extLst>
          </p:cNvPr>
          <p:cNvSpPr/>
          <p:nvPr/>
        </p:nvSpPr>
        <p:spPr>
          <a:xfrm>
            <a:off x="611886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Open-Source ERP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0F1C4D-D397-E71E-0079-79521A708E43}"/>
              </a:ext>
            </a:extLst>
          </p:cNvPr>
          <p:cNvSpPr/>
          <p:nvPr/>
        </p:nvSpPr>
        <p:spPr>
          <a:xfrm>
            <a:off x="814578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Small Business ERP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441F8-C1E5-51BB-775E-4F6F956F6A36}"/>
              </a:ext>
            </a:extLst>
          </p:cNvPr>
          <p:cNvSpPr/>
          <p:nvPr/>
        </p:nvSpPr>
        <p:spPr>
          <a:xfrm>
            <a:off x="10172700" y="4457701"/>
            <a:ext cx="1889760" cy="952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Tiered ERP</a:t>
            </a:r>
          </a:p>
        </p:txBody>
      </p:sp>
    </p:spTree>
    <p:extLst>
      <p:ext uri="{BB962C8B-B14F-4D97-AF65-F5344CB8AC3E}">
        <p14:creationId xmlns:p14="http://schemas.microsoft.com/office/powerpoint/2010/main" val="3950036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74422D9-1B2D-2F24-D61C-92FA99D17309}"/>
              </a:ext>
            </a:extLst>
          </p:cNvPr>
          <p:cNvSpPr/>
          <p:nvPr/>
        </p:nvSpPr>
        <p:spPr>
          <a:xfrm>
            <a:off x="5455920" y="236220"/>
            <a:ext cx="409194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On-Premise ERP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10B70-A68F-4088-7C59-058E739CDB44}"/>
              </a:ext>
            </a:extLst>
          </p:cNvPr>
          <p:cNvSpPr/>
          <p:nvPr/>
        </p:nvSpPr>
        <p:spPr>
          <a:xfrm>
            <a:off x="5455920" y="723900"/>
            <a:ext cx="3909060" cy="131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Installed on the company’s own servers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Gives full control over data and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Allows extensive customization and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dedicated IT support for maintenance and security 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9F23F247-B3F3-9A1F-A957-48176B9CB9FF}"/>
              </a:ext>
            </a:extLst>
          </p:cNvPr>
          <p:cNvSpPr/>
          <p:nvPr/>
        </p:nvSpPr>
        <p:spPr>
          <a:xfrm>
            <a:off x="632460" y="236220"/>
            <a:ext cx="389382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ERP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C07C8-64C3-49F0-832E-A95D9C8FC864}"/>
              </a:ext>
            </a:extLst>
          </p:cNvPr>
          <p:cNvSpPr/>
          <p:nvPr/>
        </p:nvSpPr>
        <p:spPr>
          <a:xfrm>
            <a:off x="632460" y="723900"/>
            <a:ext cx="3718560" cy="131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Hosted on remote servers and accessed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Scalable and flexible for business growth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Uses subscription-based pricing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Maintenance and updates handled by the provider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91EECF1-04C2-DE15-6AD7-0114F957CC53}"/>
              </a:ext>
            </a:extLst>
          </p:cNvPr>
          <p:cNvSpPr/>
          <p:nvPr/>
        </p:nvSpPr>
        <p:spPr>
          <a:xfrm>
            <a:off x="632460" y="2171700"/>
            <a:ext cx="389382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Industry-Specific ERP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53D299-2316-E827-7D81-60510AC87897}"/>
              </a:ext>
            </a:extLst>
          </p:cNvPr>
          <p:cNvSpPr/>
          <p:nvPr/>
        </p:nvSpPr>
        <p:spPr>
          <a:xfrm>
            <a:off x="632460" y="2654326"/>
            <a:ext cx="3718560" cy="15493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Designed for specific industries and business needs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Includes specialized modules and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Improves efficiency in industry-related operations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Example: Manufacturing ERP vs Banking ERP 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C10EA49-B94F-1BEB-6CCC-03931B500745}"/>
              </a:ext>
            </a:extLst>
          </p:cNvPr>
          <p:cNvSpPr/>
          <p:nvPr/>
        </p:nvSpPr>
        <p:spPr>
          <a:xfrm>
            <a:off x="5455920" y="2155216"/>
            <a:ext cx="4091940" cy="3670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Open-Source ERP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01514-E9CD-3B8A-A1D1-F4967A24E010}"/>
              </a:ext>
            </a:extLst>
          </p:cNvPr>
          <p:cNvSpPr/>
          <p:nvPr/>
        </p:nvSpPr>
        <p:spPr>
          <a:xfrm>
            <a:off x="5455920" y="2642896"/>
            <a:ext cx="3909060" cy="15607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Provides access to source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customized and modified freely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Offers flexibility for unique business needs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higher technical expertise 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EAFD05AE-314D-651F-5695-39FC781C5C49}"/>
              </a:ext>
            </a:extLst>
          </p:cNvPr>
          <p:cNvSpPr/>
          <p:nvPr/>
        </p:nvSpPr>
        <p:spPr>
          <a:xfrm>
            <a:off x="637839" y="4377467"/>
            <a:ext cx="3888441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Small Business ERP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74E23D-52CA-E5D2-0410-0600E83F709B}"/>
              </a:ext>
            </a:extLst>
          </p:cNvPr>
          <p:cNvSpPr/>
          <p:nvPr/>
        </p:nvSpPr>
        <p:spPr>
          <a:xfrm>
            <a:off x="632460" y="4823461"/>
            <a:ext cx="3718560" cy="1759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Designed for small and medium-sized businesses (SMBs)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Affordable and easier to implement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Includes essential ERP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less customization than enterprise ERP 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C7CB9E3-8BFA-EAAE-686B-496C65CDD700}"/>
              </a:ext>
            </a:extLst>
          </p:cNvPr>
          <p:cNvSpPr/>
          <p:nvPr/>
        </p:nvSpPr>
        <p:spPr>
          <a:xfrm>
            <a:off x="5455920" y="4377467"/>
            <a:ext cx="3888441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Tiered ERP</a:t>
            </a:r>
            <a:endParaRPr lang="en-IN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5CCB22-2E5D-B6CC-CCB5-3DE03F4683F1}"/>
              </a:ext>
            </a:extLst>
          </p:cNvPr>
          <p:cNvSpPr/>
          <p:nvPr/>
        </p:nvSpPr>
        <p:spPr>
          <a:xfrm>
            <a:off x="5455920" y="4823460"/>
            <a:ext cx="3718560" cy="1759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Offers different levels of features and scalability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Businesses choose plans based on needs and budget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Modules can be added as the company grows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Supports future expansion and customization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5980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1CA1EE-131C-219A-FBA4-62539467E349}"/>
              </a:ext>
            </a:extLst>
          </p:cNvPr>
          <p:cNvSpPr/>
          <p:nvPr/>
        </p:nvSpPr>
        <p:spPr>
          <a:xfrm>
            <a:off x="2547619" y="934721"/>
            <a:ext cx="6233160" cy="5638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Benefits of ERP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EF781236-2B8B-62AD-8668-09B95F90925E}"/>
              </a:ext>
            </a:extLst>
          </p:cNvPr>
          <p:cNvSpPr/>
          <p:nvPr/>
        </p:nvSpPr>
        <p:spPr>
          <a:xfrm>
            <a:off x="1727200" y="1930401"/>
            <a:ext cx="3886200" cy="204893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rgbClr val="C00000"/>
                </a:solidFill>
              </a:rPr>
              <a:t>Improves Accuracy &amp; Productivity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Automates business processes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Reduces duplication and manual errors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Enhances productivity and workflow efficiency </a:t>
            </a:r>
          </a:p>
          <a:p>
            <a:pPr algn="ctr"/>
            <a:endParaRPr lang="en-IN" dirty="0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A6420930-5F55-726C-62D0-7F6C2FAC5CAB}"/>
              </a:ext>
            </a:extLst>
          </p:cNvPr>
          <p:cNvSpPr/>
          <p:nvPr/>
        </p:nvSpPr>
        <p:spPr>
          <a:xfrm>
            <a:off x="6316133" y="4157134"/>
            <a:ext cx="3886200" cy="204893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accent1"/>
                </a:solidFill>
              </a:rPr>
              <a:t>Increases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Enhances teamwork across departments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Improves knowledge sharing and coordination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Eliminates repetitive tasks for employees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Allows focus on more meaningful work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25CC670D-1628-1F4B-D7E8-A22D88AF1370}"/>
              </a:ext>
            </a:extLst>
          </p:cNvPr>
          <p:cNvSpPr/>
          <p:nvPr/>
        </p:nvSpPr>
        <p:spPr>
          <a:xfrm>
            <a:off x="1727200" y="4157134"/>
            <a:ext cx="3886200" cy="204893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accent1"/>
                </a:solidFill>
              </a:rPr>
              <a:t>Improves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Provides real-time data from a single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Helps in planning, budgeting, and forecasting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Improves communication with stakeholders 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51EDAECC-192F-AC75-FF55-BF2C49AB8562}"/>
              </a:ext>
            </a:extLst>
          </p:cNvPr>
          <p:cNvSpPr/>
          <p:nvPr/>
        </p:nvSpPr>
        <p:spPr>
          <a:xfrm>
            <a:off x="6316134" y="1930401"/>
            <a:ext cx="3886200" cy="204893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accent1"/>
                </a:solidFill>
              </a:rPr>
              <a:t>Increases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Enables quick access to important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Improves customer and employee satisfaction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Reduces operational costs and response time </a:t>
            </a:r>
          </a:p>
        </p:txBody>
      </p:sp>
    </p:spTree>
    <p:extLst>
      <p:ext uri="{BB962C8B-B14F-4D97-AF65-F5344CB8AC3E}">
        <p14:creationId xmlns:p14="http://schemas.microsoft.com/office/powerpoint/2010/main" val="3171611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D74167E-2304-5D02-C687-BDE8621686D0}"/>
              </a:ext>
            </a:extLst>
          </p:cNvPr>
          <p:cNvSpPr/>
          <p:nvPr/>
        </p:nvSpPr>
        <p:spPr>
          <a:xfrm>
            <a:off x="708657" y="578300"/>
            <a:ext cx="6146800" cy="626533"/>
          </a:xfrm>
          <a:prstGeom prst="homePlat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ERP Weaknesses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760E114-ACE8-744D-A2D3-3B02949E55DF}"/>
              </a:ext>
            </a:extLst>
          </p:cNvPr>
          <p:cNvSpPr/>
          <p:nvPr/>
        </p:nvSpPr>
        <p:spPr>
          <a:xfrm>
            <a:off x="708660" y="1426607"/>
            <a:ext cx="389382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Limitations of ERP Systems</a:t>
            </a:r>
            <a:endParaRPr lang="en-US" sz="1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B2C5F5-AE85-5408-8D27-E8BC31E59B69}"/>
              </a:ext>
            </a:extLst>
          </p:cNvPr>
          <p:cNvSpPr/>
          <p:nvPr/>
        </p:nvSpPr>
        <p:spPr>
          <a:xfrm>
            <a:off x="708659" y="1865233"/>
            <a:ext cx="6648873" cy="903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ERP systems may not remove all business inefficiencies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Companies may need to reorganize processes for effective implementation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Incompatible technology can create operational challenges 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209C2BE4-F39B-0BB8-54B0-A504AB98A93D}"/>
              </a:ext>
            </a:extLst>
          </p:cNvPr>
          <p:cNvSpPr/>
          <p:nvPr/>
        </p:nvSpPr>
        <p:spPr>
          <a:xfrm>
            <a:off x="708660" y="2982383"/>
            <a:ext cx="389382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Resistance to Change</a:t>
            </a:r>
            <a:endParaRPr lang="en-US" sz="16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E8A256-E469-A672-0120-C5E10D5884B2}"/>
              </a:ext>
            </a:extLst>
          </p:cNvPr>
          <p:cNvSpPr/>
          <p:nvPr/>
        </p:nvSpPr>
        <p:spPr>
          <a:xfrm>
            <a:off x="708658" y="3429000"/>
            <a:ext cx="6648873" cy="927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Employees and organizations may hesitate to abandon old work methods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Businesses may continue using outdated software despite ERP adoption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Lack of adaptation can reduce ERP effectiveness </a:t>
            </a:r>
          </a:p>
          <a:p>
            <a:endParaRPr lang="en-US" sz="1200" dirty="0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AE434D74-8FC7-DF16-B46E-DB80708DF241}"/>
              </a:ext>
            </a:extLst>
          </p:cNvPr>
          <p:cNvSpPr/>
          <p:nvPr/>
        </p:nvSpPr>
        <p:spPr>
          <a:xfrm>
            <a:off x="708658" y="4634256"/>
            <a:ext cx="3893820" cy="3505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Implementation Challenges</a:t>
            </a:r>
            <a:endParaRPr lang="en-US" sz="16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2174F-1FBB-49DB-AE71-042973744B74}"/>
              </a:ext>
            </a:extLst>
          </p:cNvPr>
          <p:cNvSpPr/>
          <p:nvPr/>
        </p:nvSpPr>
        <p:spPr>
          <a:xfrm>
            <a:off x="708657" y="5097780"/>
            <a:ext cx="6648873" cy="11675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ERP projects can become expensive and time-consuming 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Splitting ERP into smaller projects may lead to cost overruns 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Requires proper planning and management for success </a:t>
            </a:r>
          </a:p>
          <a:p>
            <a:endParaRPr lang="en-US" sz="12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5F81140-7729-C2A2-2CCC-2F051B17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71F03E7E-C06F-A347-DB0B-85FB036EE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1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234B4481-D197-6CC6-F250-463C2CAA89B3}"/>
              </a:ext>
            </a:extLst>
          </p:cNvPr>
          <p:cNvSpPr/>
          <p:nvPr/>
        </p:nvSpPr>
        <p:spPr>
          <a:xfrm>
            <a:off x="702733" y="863600"/>
            <a:ext cx="3149600" cy="52493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🏢 ERP (Enterprise Resource Planning)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D37BC385-FD86-A80A-134E-BA2709521B65}"/>
              </a:ext>
            </a:extLst>
          </p:cNvPr>
          <p:cNvSpPr/>
          <p:nvPr/>
        </p:nvSpPr>
        <p:spPr>
          <a:xfrm>
            <a:off x="5283200" y="863599"/>
            <a:ext cx="3624580" cy="52493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🤝 CRM (Customer Relationship Management)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595EB0-75E5-3748-2A7F-48DC36DD6BF3}"/>
              </a:ext>
            </a:extLst>
          </p:cNvPr>
          <p:cNvSpPr/>
          <p:nvPr/>
        </p:nvSpPr>
        <p:spPr>
          <a:xfrm>
            <a:off x="702732" y="1490133"/>
            <a:ext cx="2937934" cy="2302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Focuses on internal business operations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Integrates processes like finance, HR, inventory, and operations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Improves efficiency and workflow automation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Goal: Streamline business processes 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97243-81C1-11FE-11A3-27E998A8D696}"/>
              </a:ext>
            </a:extLst>
          </p:cNvPr>
          <p:cNvSpPr/>
          <p:nvPr/>
        </p:nvSpPr>
        <p:spPr>
          <a:xfrm>
            <a:off x="5283200" y="1490133"/>
            <a:ext cx="3268136" cy="2302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Focuses on customer interactions and relationships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Manages sales, marketing, customer support, and contacts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Improves customer engagement and satisfaction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Goal: Build customer loyalty and improve service </a:t>
            </a:r>
          </a:p>
          <a:p>
            <a:pPr algn="ctr"/>
            <a:endParaRPr lang="en-IN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7F1205ED-64CC-AFAA-5221-14D523DDDD90}"/>
              </a:ext>
            </a:extLst>
          </p:cNvPr>
          <p:cNvSpPr/>
          <p:nvPr/>
        </p:nvSpPr>
        <p:spPr>
          <a:xfrm>
            <a:off x="702732" y="4216400"/>
            <a:ext cx="7730067" cy="52493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🔗 Relationship Between ERP &amp; CRM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A5D43-DA35-BE0C-6DCC-4123BEEA57FD}"/>
              </a:ext>
            </a:extLst>
          </p:cNvPr>
          <p:cNvSpPr/>
          <p:nvPr/>
        </p:nvSpPr>
        <p:spPr>
          <a:xfrm>
            <a:off x="702732" y="4936067"/>
            <a:ext cx="7518402" cy="14266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Modern ERP systems often include CRM features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Customer data can be shared across both systems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Helps businesses predict customer needs and manage resources efficiently 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C066999-90FA-80C1-27A9-4287E0600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68B6F73-779C-CD31-EFC2-14AE4B21E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73A7A9-14FC-36FB-E385-9225E6E4E92F}"/>
              </a:ext>
            </a:extLst>
          </p:cNvPr>
          <p:cNvSpPr/>
          <p:nvPr/>
        </p:nvSpPr>
        <p:spPr>
          <a:xfrm>
            <a:off x="9639300" y="1927860"/>
            <a:ext cx="2011680" cy="42824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Example</a:t>
            </a:r>
          </a:p>
          <a:p>
            <a:r>
              <a:rPr lang="en-US" dirty="0"/>
              <a:t>A CRM stores customer purchase history, while ERP uses that data to manage inventory, staffing, and future orders.</a:t>
            </a:r>
          </a:p>
        </p:txBody>
      </p:sp>
    </p:spTree>
    <p:extLst>
      <p:ext uri="{BB962C8B-B14F-4D97-AF65-F5344CB8AC3E}">
        <p14:creationId xmlns:p14="http://schemas.microsoft.com/office/powerpoint/2010/main" val="1223717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383A8-984E-F08C-11F8-68DF82FB2F50}"/>
              </a:ext>
            </a:extLst>
          </p:cNvPr>
          <p:cNvSpPr txBox="1"/>
          <p:nvPr/>
        </p:nvSpPr>
        <p:spPr>
          <a:xfrm>
            <a:off x="1082040" y="863977"/>
            <a:ext cx="91516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ERP Solution Providers</a:t>
            </a:r>
          </a:p>
          <a:p>
            <a:endParaRPr lang="en-IN" sz="2800" b="1" dirty="0"/>
          </a:p>
          <a:p>
            <a:r>
              <a:rPr lang="en-IN" sz="2000" b="1" dirty="0"/>
              <a:t>🏢 Major ERP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Oracle Corporation – Known for database and ERP solutions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SAP – One of the leading ERP software providers worldwide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Microsoft – Provides ERP solutions integrated with Microsoft applications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2000" b="1" dirty="0"/>
              <a:t>☁️ Growth of Cloud-Based 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ERP solutions are becoming increasingly popular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Businesses prefer flexible and scalable subscription-based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ERP companies now face competition from newer providers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2000" b="1" dirty="0"/>
              <a:t>🚀 Emerging ERP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 err="1"/>
              <a:t>Bizowie</a:t>
            </a:r>
            <a:r>
              <a:rPr lang="en-IN" b="1" i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 err="1"/>
              <a:t>WorkWise</a:t>
            </a:r>
            <a:r>
              <a:rPr lang="en-IN" b="1" i="1" dirty="0"/>
              <a:t> </a:t>
            </a:r>
          </a:p>
          <a:p>
            <a:r>
              <a:rPr lang="en-IN" dirty="0"/>
              <a:t>These companies offer modern cloud-based ERP solutions and innovative business management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472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AE76-1704-4403-ED59-B89EEFA0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33" y="655562"/>
            <a:ext cx="9404723" cy="1400530"/>
          </a:xfrm>
        </p:spPr>
        <p:txBody>
          <a:bodyPr/>
          <a:lstStyle/>
          <a:p>
            <a:r>
              <a:rPr lang="en-US" dirty="0"/>
              <a:t>Tips for Choosing an ERP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10CF-0D46-13D6-E2B3-F4A550382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133" y="2557880"/>
            <a:ext cx="4396339" cy="41957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📈 Scalability</a:t>
            </a:r>
          </a:p>
          <a:p>
            <a:r>
              <a:rPr lang="en-US" dirty="0"/>
              <a:t>Choose an ERP that can grow with your business </a:t>
            </a:r>
          </a:p>
          <a:p>
            <a:r>
              <a:rPr lang="en-US" dirty="0"/>
              <a:t>Should handle increasing users, data, and transactions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900" b="1" dirty="0"/>
              <a:t>⚙️ Customization &amp; Integration</a:t>
            </a:r>
          </a:p>
          <a:p>
            <a:r>
              <a:rPr lang="en-US" dirty="0"/>
              <a:t>ERP should adapt to your business processes </a:t>
            </a:r>
          </a:p>
          <a:p>
            <a:r>
              <a:rPr lang="en-US" dirty="0"/>
              <a:t>Must integrate with CRM, payroll, e-commerce, and other tools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900" b="1" dirty="0"/>
              <a:t>💻 User-Friendly Interface</a:t>
            </a:r>
          </a:p>
          <a:p>
            <a:r>
              <a:rPr lang="en-US" dirty="0"/>
              <a:t>Easy-to-use and intuitive design </a:t>
            </a:r>
          </a:p>
          <a:p>
            <a:r>
              <a:rPr lang="en-US" dirty="0"/>
              <a:t>Helps employees use ERP efficiently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AC9A2-510A-F3AD-2C72-E1605845A3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900" dirty="0"/>
              <a:t>📱</a:t>
            </a:r>
            <a:r>
              <a:rPr lang="en-US" sz="2900" b="1" dirty="0"/>
              <a:t>Mobile Accessibility</a:t>
            </a:r>
          </a:p>
          <a:p>
            <a:r>
              <a:rPr lang="en-US" dirty="0"/>
              <a:t>Allows access anytime and anywhere </a:t>
            </a:r>
          </a:p>
          <a:p>
            <a:r>
              <a:rPr lang="en-US" dirty="0"/>
              <a:t>Supports flexible business operations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900" b="1" dirty="0"/>
              <a:t>🔒 Security &amp; Compliance</a:t>
            </a:r>
          </a:p>
          <a:p>
            <a:r>
              <a:rPr lang="en-US" dirty="0"/>
              <a:t>Protects sensitive business data </a:t>
            </a:r>
          </a:p>
          <a:p>
            <a:r>
              <a:rPr lang="en-US" dirty="0"/>
              <a:t>Look for encryption, access control, and compliance features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900" b="1" dirty="0"/>
              <a:t>📊 Analytics &amp; Reporting</a:t>
            </a:r>
          </a:p>
          <a:p>
            <a:r>
              <a:rPr lang="en-US" dirty="0"/>
              <a:t>Provides dashboards and real-time reports </a:t>
            </a:r>
          </a:p>
          <a:p>
            <a:r>
              <a:rPr lang="en-US" dirty="0"/>
              <a:t>Helps in decision-making and business analysis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900" b="1" dirty="0"/>
              <a:t>🛠️ Support &amp; Maintenance</a:t>
            </a:r>
          </a:p>
          <a:p>
            <a:r>
              <a:rPr lang="en-US" dirty="0"/>
              <a:t>Ensure vendor provides updates and technical support </a:t>
            </a:r>
          </a:p>
          <a:p>
            <a:r>
              <a:rPr lang="en-US" dirty="0"/>
              <a:t>Check availability of training and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601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D883B44-2DA5-D53E-B71B-6457BBA33191}"/>
              </a:ext>
            </a:extLst>
          </p:cNvPr>
          <p:cNvSpPr/>
          <p:nvPr/>
        </p:nvSpPr>
        <p:spPr>
          <a:xfrm>
            <a:off x="2069432" y="1836821"/>
            <a:ext cx="8880508" cy="76200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CFD363-82DB-E0E4-EADB-8B92DD7C0591}"/>
              </a:ext>
            </a:extLst>
          </p:cNvPr>
          <p:cNvSpPr/>
          <p:nvPr/>
        </p:nvSpPr>
        <p:spPr>
          <a:xfrm>
            <a:off x="2069432" y="2598821"/>
            <a:ext cx="7419474" cy="251038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Enterprise Resource Planning (ERP) systems help organizations integrate and manage business processes through a single platform. They improve communication, collaboration, productivity, and efficiency across departments. However, successful ERP implementation requires organizational adaptability, proper planning, and employee support to fully achieve its benefits.</a:t>
            </a:r>
          </a:p>
        </p:txBody>
      </p:sp>
    </p:spTree>
    <p:extLst>
      <p:ext uri="{BB962C8B-B14F-4D97-AF65-F5344CB8AC3E}">
        <p14:creationId xmlns:p14="http://schemas.microsoft.com/office/powerpoint/2010/main" val="2278476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2C05098D-5D63-F2F3-BD70-A049C02324E7}"/>
              </a:ext>
            </a:extLst>
          </p:cNvPr>
          <p:cNvSpPr/>
          <p:nvPr/>
        </p:nvSpPr>
        <p:spPr>
          <a:xfrm>
            <a:off x="2021305" y="441158"/>
            <a:ext cx="6890084" cy="729916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Data </a:t>
            </a:r>
            <a:r>
              <a:rPr lang="en-US" dirty="0"/>
              <a:t>includes huge volume, high velocity, and extensible variety of data. 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059B0-CBC8-1900-B9BA-B9E72F3F1932}"/>
              </a:ext>
            </a:extLst>
          </p:cNvPr>
          <p:cNvSpPr/>
          <p:nvPr/>
        </p:nvSpPr>
        <p:spPr>
          <a:xfrm>
            <a:off x="1163053" y="1419726"/>
            <a:ext cx="9296400" cy="393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Difference between Structured, Semi-structured and Unstructured data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B5CA177-5274-3322-B2E2-63229AEE2B2C}"/>
              </a:ext>
            </a:extLst>
          </p:cNvPr>
          <p:cNvSpPr/>
          <p:nvPr/>
        </p:nvSpPr>
        <p:spPr>
          <a:xfrm>
            <a:off x="493294" y="2077452"/>
            <a:ext cx="3056021" cy="4973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Structured data</a:t>
            </a:r>
            <a:endParaRPr lang="en-IN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82C25D4-B120-1990-0DF2-705759DF66A2}"/>
              </a:ext>
            </a:extLst>
          </p:cNvPr>
          <p:cNvSpPr/>
          <p:nvPr/>
        </p:nvSpPr>
        <p:spPr>
          <a:xfrm>
            <a:off x="4138867" y="2061410"/>
            <a:ext cx="3184358" cy="4973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Semi-structured data</a:t>
            </a:r>
            <a:endParaRPr lang="en-IN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25AC0F6-0C10-5446-366D-0C25DF9C7D93}"/>
              </a:ext>
            </a:extLst>
          </p:cNvPr>
          <p:cNvSpPr/>
          <p:nvPr/>
        </p:nvSpPr>
        <p:spPr>
          <a:xfrm>
            <a:off x="7950059" y="2061410"/>
            <a:ext cx="3056021" cy="4973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Unstructured data</a:t>
            </a:r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C91222-40A6-9229-443E-CEC0CE7A0E9C}"/>
              </a:ext>
            </a:extLst>
          </p:cNvPr>
          <p:cNvSpPr/>
          <p:nvPr/>
        </p:nvSpPr>
        <p:spPr>
          <a:xfrm>
            <a:off x="577514" y="2839452"/>
            <a:ext cx="2887579" cy="33929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based on Relational database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Matured transaction and various concurrency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Versioning over tuples , row,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schema dependent and less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very difficult to scale DB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Very robust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Structured query allow complex joining </a:t>
            </a:r>
            <a:endParaRPr lang="en-IN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6241A0-3764-1FE7-9AE4-5D892F6BADE9}"/>
              </a:ext>
            </a:extLst>
          </p:cNvPr>
          <p:cNvSpPr/>
          <p:nvPr/>
        </p:nvSpPr>
        <p:spPr>
          <a:xfrm>
            <a:off x="8094437" y="2807368"/>
            <a:ext cx="2767263" cy="33929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based on character and binary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transaction management and no concurrency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Versioned as a whole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more flexible and there is absence of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It is more scalable.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Only textual queries are possible</a:t>
            </a:r>
            <a:endParaRPr lang="en-IN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722A1E-FD4F-70BE-62E6-8DDCFB4BB199}"/>
              </a:ext>
            </a:extLst>
          </p:cNvPr>
          <p:cNvSpPr/>
          <p:nvPr/>
        </p:nvSpPr>
        <p:spPr>
          <a:xfrm>
            <a:off x="4138867" y="2807368"/>
            <a:ext cx="3128211" cy="40426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based on XML/RDF(Resource Description Framework).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Transaction is adapted from DBMS not matured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Versioning over tuples or graph is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more flexible than structured data but less flexible than unstructured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It's scaling is simpler than 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 technology, not very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Queries over anonymous nodes are possible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481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59CEA0-E25E-1538-07DE-17B3E6E24EAD}"/>
              </a:ext>
            </a:extLst>
          </p:cNvPr>
          <p:cNvSpPr/>
          <p:nvPr/>
        </p:nvSpPr>
        <p:spPr>
          <a:xfrm>
            <a:off x="1314450" y="640080"/>
            <a:ext cx="7772400" cy="76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Data Sources</a:t>
            </a:r>
            <a:endParaRPr lang="en-IN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41EC11-D564-56FD-F64E-F997A6209CD3}"/>
              </a:ext>
            </a:extLst>
          </p:cNvPr>
          <p:cNvSpPr/>
          <p:nvPr/>
        </p:nvSpPr>
        <p:spPr>
          <a:xfrm>
            <a:off x="891540" y="2354580"/>
            <a:ext cx="3909060" cy="353187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What Are Common Data Sources?</a:t>
            </a:r>
          </a:p>
          <a:p>
            <a:r>
              <a:rPr lang="en-US" dirty="0"/>
              <a:t>Organizations use data from different sources to support decision-making and improve business performance.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F43C60F-08CA-952C-4ADE-9B28516CAF83}"/>
              </a:ext>
            </a:extLst>
          </p:cNvPr>
          <p:cNvSpPr/>
          <p:nvPr/>
        </p:nvSpPr>
        <p:spPr>
          <a:xfrm>
            <a:off x="5497830" y="1783080"/>
            <a:ext cx="5292090" cy="5715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Main Data Sources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EA04453-5E26-6365-EBFF-EE70B185549E}"/>
              </a:ext>
            </a:extLst>
          </p:cNvPr>
          <p:cNvSpPr/>
          <p:nvPr/>
        </p:nvSpPr>
        <p:spPr>
          <a:xfrm>
            <a:off x="5497830" y="4217671"/>
            <a:ext cx="5292090" cy="5715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Importance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EE005-7D7D-59EF-EF78-5C62B5D00DDA}"/>
              </a:ext>
            </a:extLst>
          </p:cNvPr>
          <p:cNvSpPr/>
          <p:nvPr/>
        </p:nvSpPr>
        <p:spPr>
          <a:xfrm>
            <a:off x="5497830" y="2354580"/>
            <a:ext cx="5029200" cy="1851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Internal Data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Third-Party Analytics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External Data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Open Data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APIs (Application Programming Interfaces)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C85B8-09EE-3D91-2DEE-293A455E5869}"/>
              </a:ext>
            </a:extLst>
          </p:cNvPr>
          <p:cNvSpPr/>
          <p:nvPr/>
        </p:nvSpPr>
        <p:spPr>
          <a:xfrm>
            <a:off x="5497830" y="4800602"/>
            <a:ext cx="5029200" cy="1851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businesses make data-driven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analysis, forecasting, and strategy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understanding of customers and markets </a:t>
            </a:r>
          </a:p>
        </p:txBody>
      </p:sp>
    </p:spTree>
    <p:extLst>
      <p:ext uri="{BB962C8B-B14F-4D97-AF65-F5344CB8AC3E}">
        <p14:creationId xmlns:p14="http://schemas.microsoft.com/office/powerpoint/2010/main" val="3555448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05AC5800-C8B7-702B-A867-1B7EEA0A6A6D}"/>
              </a:ext>
            </a:extLst>
          </p:cNvPr>
          <p:cNvSpPr/>
          <p:nvPr/>
        </p:nvSpPr>
        <p:spPr>
          <a:xfrm>
            <a:off x="1234440" y="417195"/>
            <a:ext cx="4240530" cy="602361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Internal Data</a:t>
            </a:r>
          </a:p>
          <a:p>
            <a:r>
              <a:rPr lang="en-US" dirty="0"/>
              <a:t>Data generated within the organization through daily operations.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Examples:</a:t>
            </a:r>
          </a:p>
          <a:p>
            <a:r>
              <a:rPr lang="en-US" dirty="0"/>
              <a:t>Customer purchases and payments </a:t>
            </a:r>
          </a:p>
          <a:p>
            <a:r>
              <a:rPr lang="en-US" dirty="0"/>
              <a:t>Email marketing metrics </a:t>
            </a:r>
          </a:p>
          <a:p>
            <a:r>
              <a:rPr lang="en-US" dirty="0"/>
              <a:t>Customer support records </a:t>
            </a:r>
          </a:p>
          <a:p>
            <a:r>
              <a:rPr lang="en-US" dirty="0"/>
              <a:t>Online shopping activity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✅ Advantages</a:t>
            </a:r>
          </a:p>
          <a:p>
            <a:r>
              <a:rPr lang="en-US" dirty="0"/>
              <a:t>Easily available </a:t>
            </a:r>
          </a:p>
          <a:p>
            <a:r>
              <a:rPr lang="en-US" dirty="0"/>
              <a:t>Reliable and familiar format </a:t>
            </a:r>
          </a:p>
          <a:p>
            <a:r>
              <a:rPr lang="en-US" dirty="0"/>
              <a:t>Saves time and resources </a:t>
            </a:r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62F273F3-6F27-07CB-7140-DBC0C52F13DB}"/>
              </a:ext>
            </a:extLst>
          </p:cNvPr>
          <p:cNvSpPr/>
          <p:nvPr/>
        </p:nvSpPr>
        <p:spPr>
          <a:xfrm>
            <a:off x="6313170" y="1268730"/>
            <a:ext cx="3851910" cy="537210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bg1"/>
                </a:solidFill>
              </a:rPr>
              <a:t>External Data</a:t>
            </a:r>
          </a:p>
          <a:p>
            <a:r>
              <a:rPr lang="en-IN" dirty="0"/>
              <a:t>Data collected from outside the organization.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Examples:</a:t>
            </a:r>
          </a:p>
          <a:p>
            <a:r>
              <a:rPr lang="en-IN" dirty="0"/>
              <a:t>Demographic and market data </a:t>
            </a:r>
          </a:p>
          <a:p>
            <a:r>
              <a:rPr lang="en-IN" dirty="0"/>
              <a:t>Weather and social media trends </a:t>
            </a:r>
          </a:p>
          <a:p>
            <a:r>
              <a:rPr lang="en-IN" dirty="0"/>
              <a:t>Financial and economic information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📌 Sources</a:t>
            </a:r>
          </a:p>
          <a:p>
            <a:r>
              <a:rPr lang="en-IN" dirty="0"/>
              <a:t>Government databases </a:t>
            </a:r>
          </a:p>
          <a:p>
            <a:r>
              <a:rPr lang="en-IN" dirty="0"/>
              <a:t>Social media platforms </a:t>
            </a:r>
          </a:p>
          <a:p>
            <a:r>
              <a:rPr lang="en-IN" dirty="0"/>
              <a:t>Paid information services</a:t>
            </a:r>
          </a:p>
        </p:txBody>
      </p:sp>
    </p:spTree>
    <p:extLst>
      <p:ext uri="{BB962C8B-B14F-4D97-AF65-F5344CB8AC3E}">
        <p14:creationId xmlns:p14="http://schemas.microsoft.com/office/powerpoint/2010/main" val="1654619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F41C13F8-9F41-1B24-F301-8532D061F565}"/>
              </a:ext>
            </a:extLst>
          </p:cNvPr>
          <p:cNvSpPr/>
          <p:nvPr/>
        </p:nvSpPr>
        <p:spPr>
          <a:xfrm>
            <a:off x="1716404" y="5387340"/>
            <a:ext cx="8444865" cy="1078230"/>
          </a:xfrm>
          <a:prstGeom prst="homePlat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Conclusion</a:t>
            </a:r>
          </a:p>
          <a:p>
            <a:r>
              <a:rPr lang="en-US">
                <a:solidFill>
                  <a:schemeClr val="bg1"/>
                </a:solidFill>
              </a:rPr>
              <a:t>Data is available from many sources, and selecting the right data helps organizations solve business problems and make better decisions.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C7AA27-7365-6EBC-BB17-626E5CFAC962}"/>
              </a:ext>
            </a:extLst>
          </p:cNvPr>
          <p:cNvSpPr/>
          <p:nvPr/>
        </p:nvSpPr>
        <p:spPr>
          <a:xfrm>
            <a:off x="617220" y="1897380"/>
            <a:ext cx="3234690" cy="28803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Third-Party Analytics</a:t>
            </a:r>
          </a:p>
          <a:p>
            <a:r>
              <a:rPr lang="en-US" sz="1600" dirty="0"/>
              <a:t>Provides website and customer behavior analysis </a:t>
            </a:r>
          </a:p>
          <a:p>
            <a:r>
              <a:rPr lang="en-US" sz="1600" dirty="0"/>
              <a:t>Example: Google Analytics </a:t>
            </a:r>
          </a:p>
          <a:p>
            <a:r>
              <a:rPr lang="en-US" sz="1600" dirty="0"/>
              <a:t>Helps track website performance and user activity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322B04-A8BF-598B-62C5-7B1E45A39BBD}"/>
              </a:ext>
            </a:extLst>
          </p:cNvPr>
          <p:cNvSpPr/>
          <p:nvPr/>
        </p:nvSpPr>
        <p:spPr>
          <a:xfrm>
            <a:off x="4484370" y="2049780"/>
            <a:ext cx="3234690" cy="28803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Open Data</a:t>
            </a:r>
          </a:p>
          <a:p>
            <a:pPr algn="ctr"/>
            <a:r>
              <a:rPr lang="en-US" sz="1400" dirty="0"/>
              <a:t>Free publicly available data sources.</a:t>
            </a:r>
          </a:p>
          <a:p>
            <a:pPr algn="ctr"/>
            <a:r>
              <a:rPr lang="en-US" sz="1400" b="1" dirty="0"/>
              <a:t>Examples:</a:t>
            </a:r>
          </a:p>
          <a:p>
            <a:pPr algn="ctr"/>
            <a:r>
              <a:rPr lang="en-US" sz="1400" dirty="0"/>
              <a:t>Government open data portals ,</a:t>
            </a:r>
          </a:p>
          <a:p>
            <a:pPr algn="ctr"/>
            <a:r>
              <a:rPr lang="en-US" sz="1400" dirty="0"/>
              <a:t>Health and scientific databases ,</a:t>
            </a:r>
          </a:p>
          <a:p>
            <a:pPr algn="ctr"/>
            <a:r>
              <a:rPr lang="en-US" sz="1400" dirty="0"/>
              <a:t>Social media trends and finance data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818980-33F6-E6B8-49D6-170B54B3EBE3}"/>
              </a:ext>
            </a:extLst>
          </p:cNvPr>
          <p:cNvSpPr/>
          <p:nvPr/>
        </p:nvSpPr>
        <p:spPr>
          <a:xfrm>
            <a:off x="8134350" y="2049780"/>
            <a:ext cx="3234690" cy="28803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APIs (Application Programming Interfaces)</a:t>
            </a:r>
          </a:p>
          <a:p>
            <a:pPr algn="ctr"/>
            <a:r>
              <a:rPr lang="en-US" sz="1400" dirty="0"/>
              <a:t>Allow applications to share and transfer data </a:t>
            </a:r>
          </a:p>
          <a:p>
            <a:pPr algn="ctr"/>
            <a:r>
              <a:rPr lang="en-US" sz="1400" dirty="0"/>
              <a:t>Connect platforms like social media, cloud storage, and business tools </a:t>
            </a:r>
          </a:p>
          <a:p>
            <a:pPr algn="ctr"/>
            <a:r>
              <a:rPr lang="en-US" sz="1400" dirty="0"/>
              <a:t>Help prepare and integrate data efficiently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517F0-5D4F-586E-000E-5A283BE71270}"/>
              </a:ext>
            </a:extLst>
          </p:cNvPr>
          <p:cNvSpPr/>
          <p:nvPr/>
        </p:nvSpPr>
        <p:spPr>
          <a:xfrm>
            <a:off x="742950" y="514350"/>
            <a:ext cx="9418320" cy="9258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Open Data, APIs &amp; Analytics</a:t>
            </a:r>
            <a:endParaRPr lang="en-IN" sz="4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772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E466F-C013-DABA-E232-9AD1E54F34C1}"/>
              </a:ext>
            </a:extLst>
          </p:cNvPr>
          <p:cNvSpPr txBox="1"/>
          <p:nvPr/>
        </p:nvSpPr>
        <p:spPr>
          <a:xfrm>
            <a:off x="457200" y="528102"/>
            <a:ext cx="10286999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highlight>
                  <a:srgbClr val="808000"/>
                </a:highlight>
              </a:rPr>
              <a:t>What Is Data Collection?</a:t>
            </a:r>
            <a:endParaRPr lang="en-US" sz="2000" dirty="0">
              <a:highlight>
                <a:srgbClr val="808000"/>
              </a:highlight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📊 </a:t>
            </a:r>
            <a:r>
              <a:rPr lang="en-US" b="1" dirty="0">
                <a:solidFill>
                  <a:schemeClr val="bg1"/>
                </a:solidFill>
              </a:rPr>
              <a:t>Definition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Data collection is the planned and purposeful process of gathering specific information for analysis, reporting, and decision-making.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🎯 Importance of Data Collection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accurate business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reliable and consistent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Connects business problems with measurable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analysis and reporting quality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⚠️ Without Proper Collection</a:t>
            </a:r>
          </a:p>
          <a:p>
            <a:pPr>
              <a:buNone/>
            </a:pPr>
            <a:endParaRPr lang="en-US" b="1" dirty="0">
              <a:highlight>
                <a:srgbClr val="00FF00"/>
              </a:highlight>
            </a:endParaRPr>
          </a:p>
          <a:p>
            <a:pPr>
              <a:buNone/>
            </a:pPr>
            <a:r>
              <a:rPr lang="en-US" dirty="0"/>
              <a:t>Data may become: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Incomplete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Inconsistent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validate or analyze</a:t>
            </a:r>
          </a:p>
        </p:txBody>
      </p:sp>
    </p:spTree>
    <p:extLst>
      <p:ext uri="{BB962C8B-B14F-4D97-AF65-F5344CB8AC3E}">
        <p14:creationId xmlns:p14="http://schemas.microsoft.com/office/powerpoint/2010/main" val="2041891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6F10D95F-C9C8-991A-B128-87209DF4594F}"/>
              </a:ext>
            </a:extLst>
          </p:cNvPr>
          <p:cNvSpPr/>
          <p:nvPr/>
        </p:nvSpPr>
        <p:spPr>
          <a:xfrm>
            <a:off x="1805940" y="925830"/>
            <a:ext cx="8126730" cy="82296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Core Elements of Data Collection</a:t>
            </a:r>
            <a:endParaRPr lang="en-IN" sz="28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AFDD45-5032-CBCF-704A-AFF793ED44BC}"/>
              </a:ext>
            </a:extLst>
          </p:cNvPr>
          <p:cNvSpPr/>
          <p:nvPr/>
        </p:nvSpPr>
        <p:spPr>
          <a:xfrm>
            <a:off x="1108710" y="2228850"/>
            <a:ext cx="2983230" cy="428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Key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the type of data needed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Select suitable data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Choose manual or automated methods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Decide data collection frequency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tools suitable for the data type and volume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9E9FCB-2711-E63A-82C9-C4FFB305137E}"/>
              </a:ext>
            </a:extLst>
          </p:cNvPr>
          <p:cNvSpPr/>
          <p:nvPr/>
        </p:nvSpPr>
        <p:spPr>
          <a:xfrm>
            <a:off x="4684395" y="2228850"/>
            <a:ext cx="2983230" cy="428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Common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Surveys and questionnaires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Databases and business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inputs and online platforms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Sensors and automated systems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3BBCF5-22A2-4308-92E6-855A7C01E0DD}"/>
              </a:ext>
            </a:extLst>
          </p:cNvPr>
          <p:cNvSpPr/>
          <p:nvPr/>
        </p:nvSpPr>
        <p:spPr>
          <a:xfrm>
            <a:off x="8260080" y="2228850"/>
            <a:ext cx="2983230" cy="428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Improved accuracy and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Easier reporting and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More reliable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462964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B4A94-01B8-33B9-CB0A-CD46BEE613D1}"/>
              </a:ext>
            </a:extLst>
          </p:cNvPr>
          <p:cNvSpPr/>
          <p:nvPr/>
        </p:nvSpPr>
        <p:spPr>
          <a:xfrm>
            <a:off x="1783080" y="628650"/>
            <a:ext cx="7658100" cy="845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Step-by-Step Data Collection Process (Part 1)</a:t>
            </a:r>
            <a:endParaRPr lang="en-IN" sz="24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2D58D21D-036C-F68F-FDF8-AAC6F7F6A151}"/>
              </a:ext>
            </a:extLst>
          </p:cNvPr>
          <p:cNvSpPr/>
          <p:nvPr/>
        </p:nvSpPr>
        <p:spPr>
          <a:xfrm>
            <a:off x="320040" y="2305050"/>
            <a:ext cx="3646170" cy="166116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Define Objectives and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Identify business questions and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Focus only on relevant data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AEDED3-24D3-9F88-47D1-0AC5E3146D5E}"/>
              </a:ext>
            </a:extLst>
          </p:cNvPr>
          <p:cNvSpPr/>
          <p:nvPr/>
        </p:nvSpPr>
        <p:spPr>
          <a:xfrm>
            <a:off x="4272915" y="2337433"/>
            <a:ext cx="3646170" cy="1628775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Identify Data Types and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Quantitative data → numbers and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Qualitative data → opinions and behaviors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FCEBD33C-DC6E-EB0D-DB92-38E957034631}"/>
              </a:ext>
            </a:extLst>
          </p:cNvPr>
          <p:cNvSpPr/>
          <p:nvPr/>
        </p:nvSpPr>
        <p:spPr>
          <a:xfrm>
            <a:off x="1964055" y="4655820"/>
            <a:ext cx="3646170" cy="175641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Plan the Collection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Choose manual, automated, or hybrid collection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Prepare workflow and monitoring process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29DF7B2-2B37-5825-9C8F-9FD49631AEB3}"/>
              </a:ext>
            </a:extLst>
          </p:cNvPr>
          <p:cNvSpPr/>
          <p:nvPr/>
        </p:nvSpPr>
        <p:spPr>
          <a:xfrm>
            <a:off x="6581775" y="4655820"/>
            <a:ext cx="3646170" cy="175641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Design and Test Instruments</a:t>
            </a:r>
          </a:p>
          <a:p>
            <a:r>
              <a:rPr lang="en-US" sz="1400" dirty="0">
                <a:solidFill>
                  <a:schemeClr val="bg1"/>
                </a:solidFill>
              </a:rPr>
              <a:t>Create surveys, forms, dashboards, or logs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Test on small datasets to reduce errors 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8321118A-B0CA-B2A1-ABB5-DEA8A561B8D2}"/>
              </a:ext>
            </a:extLst>
          </p:cNvPr>
          <p:cNvSpPr/>
          <p:nvPr/>
        </p:nvSpPr>
        <p:spPr>
          <a:xfrm>
            <a:off x="8225790" y="2337433"/>
            <a:ext cx="3646170" cy="1653539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Select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Internal systems (CRM, ERP)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Surveys, analytics, IoT devices, public records</a:t>
            </a:r>
          </a:p>
        </p:txBody>
      </p:sp>
    </p:spTree>
    <p:extLst>
      <p:ext uri="{BB962C8B-B14F-4D97-AF65-F5344CB8AC3E}">
        <p14:creationId xmlns:p14="http://schemas.microsoft.com/office/powerpoint/2010/main" val="273486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BBE735-0D00-1FAD-DF06-D292D181446E}"/>
              </a:ext>
            </a:extLst>
          </p:cNvPr>
          <p:cNvSpPr/>
          <p:nvPr/>
        </p:nvSpPr>
        <p:spPr>
          <a:xfrm>
            <a:off x="1783080" y="628650"/>
            <a:ext cx="7658100" cy="845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Step-by-Step Data Collection Process (Part 2)</a:t>
            </a:r>
            <a:endParaRPr lang="en-IN" sz="24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9B03F90-F8B2-8679-D79D-9DEEC45CC717}"/>
              </a:ext>
            </a:extLst>
          </p:cNvPr>
          <p:cNvSpPr/>
          <p:nvPr/>
        </p:nvSpPr>
        <p:spPr>
          <a:xfrm>
            <a:off x="320040" y="2234565"/>
            <a:ext cx="3646170" cy="166116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Create a Sampling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Define sample size and selection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Saves time while ensuring valid insights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9316084D-518A-54B3-1C56-79BF83095F1F}"/>
              </a:ext>
            </a:extLst>
          </p:cNvPr>
          <p:cNvSpPr/>
          <p:nvPr/>
        </p:nvSpPr>
        <p:spPr>
          <a:xfrm>
            <a:off x="4272915" y="2337433"/>
            <a:ext cx="3646170" cy="1628775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Collect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Gather data systematically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Monitor for missing or incorrect entries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63C7FC75-7EE1-9597-5018-26B3C33107E5}"/>
              </a:ext>
            </a:extLst>
          </p:cNvPr>
          <p:cNvSpPr/>
          <p:nvPr/>
        </p:nvSpPr>
        <p:spPr>
          <a:xfrm>
            <a:off x="1964055" y="4655820"/>
            <a:ext cx="3646170" cy="175641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Organize and Store Data Securely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Store data in databases or cloud platforms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labels, metadata, and encryption for security 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F404D320-AEB5-17CA-352B-35711900F1D6}"/>
              </a:ext>
            </a:extLst>
          </p:cNvPr>
          <p:cNvSpPr/>
          <p:nvPr/>
        </p:nvSpPr>
        <p:spPr>
          <a:xfrm>
            <a:off x="6581775" y="4655820"/>
            <a:ext cx="3646170" cy="1756410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Document 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Record objectives, methods, and challenges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Improves transparency and future reference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A9BF574-1BDA-6F23-F6BD-5948382D29B4}"/>
              </a:ext>
            </a:extLst>
          </p:cNvPr>
          <p:cNvSpPr/>
          <p:nvPr/>
        </p:nvSpPr>
        <p:spPr>
          <a:xfrm>
            <a:off x="8225790" y="2337433"/>
            <a:ext cx="3646170" cy="1653539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Validate and Monitor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 accuracy, completeness, and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automated checks and random reviews </a:t>
            </a:r>
          </a:p>
        </p:txBody>
      </p:sp>
    </p:spTree>
    <p:extLst>
      <p:ext uri="{BB962C8B-B14F-4D97-AF65-F5344CB8AC3E}">
        <p14:creationId xmlns:p14="http://schemas.microsoft.com/office/powerpoint/2010/main" val="2866826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3A5AAE-37CA-E2A3-7D0D-429BA4483111}"/>
              </a:ext>
            </a:extLst>
          </p:cNvPr>
          <p:cNvSpPr/>
          <p:nvPr/>
        </p:nvSpPr>
        <p:spPr>
          <a:xfrm>
            <a:off x="1794510" y="377190"/>
            <a:ext cx="7520940" cy="925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Common Data Collection Methods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209F04B5-F42F-D671-01A8-447BAE3B68E6}"/>
              </a:ext>
            </a:extLst>
          </p:cNvPr>
          <p:cNvSpPr/>
          <p:nvPr/>
        </p:nvSpPr>
        <p:spPr>
          <a:xfrm>
            <a:off x="411480" y="1653540"/>
            <a:ext cx="3383280" cy="218694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b="1" dirty="0"/>
              <a:t>Surveys &amp; Questionnaires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pre-designed questions to collect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online or offline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Customer satisfaction surveys 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👥</a:t>
            </a:r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74E63605-629C-A41C-534F-6ABC0E7672C4}"/>
              </a:ext>
            </a:extLst>
          </p:cNvPr>
          <p:cNvSpPr/>
          <p:nvPr/>
        </p:nvSpPr>
        <p:spPr>
          <a:xfrm>
            <a:off x="8648700" y="1653540"/>
            <a:ext cx="3383280" cy="218694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Electronic Data Capture (EDC)</a:t>
            </a:r>
          </a:p>
          <a:p>
            <a:r>
              <a:rPr lang="en-US" sz="1400" dirty="0"/>
              <a:t>Digital systems for collecting and validating data </a:t>
            </a:r>
          </a:p>
          <a:p>
            <a:r>
              <a:rPr lang="en-US" sz="1400" dirty="0"/>
              <a:t>Reduces errors and improves speed </a:t>
            </a:r>
          </a:p>
          <a:p>
            <a:r>
              <a:rPr lang="en-US" sz="1400" dirty="0"/>
              <a:t>Common in healthcare and clinical research 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A244F972-5036-881C-1BD3-9A30FE5BABE5}"/>
              </a:ext>
            </a:extLst>
          </p:cNvPr>
          <p:cNvSpPr/>
          <p:nvPr/>
        </p:nvSpPr>
        <p:spPr>
          <a:xfrm>
            <a:off x="8648700" y="4191000"/>
            <a:ext cx="3383280" cy="231648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Crowdsensing &amp; Sensor-Based Data</a:t>
            </a:r>
          </a:p>
          <a:p>
            <a:r>
              <a:rPr lang="en-US" sz="1400" dirty="0"/>
              <a:t>Uses sensors in mobile devices and wearables </a:t>
            </a:r>
          </a:p>
          <a:p>
            <a:r>
              <a:rPr lang="en-US" sz="1400" dirty="0"/>
              <a:t>Collects location, movement, and activity data </a:t>
            </a:r>
          </a:p>
          <a:p>
            <a:r>
              <a:rPr lang="en-US" sz="1400" dirty="0"/>
              <a:t>Example: Traffic monitoring through smartphone GPS 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D2AD72CB-1BA5-FB0A-4997-E618E71BE701}"/>
              </a:ext>
            </a:extLst>
          </p:cNvPr>
          <p:cNvSpPr/>
          <p:nvPr/>
        </p:nvSpPr>
        <p:spPr>
          <a:xfrm>
            <a:off x="411480" y="4030980"/>
            <a:ext cx="3383280" cy="247650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🎤 Structured &amp; Unstructured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Structured → Fixed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Unstructured → Open conversations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User experience interviews for apps 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7F797E1-4F96-6BDB-D624-31499C31907B}"/>
              </a:ext>
            </a:extLst>
          </p:cNvPr>
          <p:cNvSpPr/>
          <p:nvPr/>
        </p:nvSpPr>
        <p:spPr>
          <a:xfrm>
            <a:off x="4572000" y="4030980"/>
            <a:ext cx="3383280" cy="244983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Observational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Observing behaviors and activities naturally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Participant or non-participant observation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Tracking customer movement in stores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BB842F1-921A-0D64-7BD1-6BB36851DDE5}"/>
              </a:ext>
            </a:extLst>
          </p:cNvPr>
          <p:cNvSpPr/>
          <p:nvPr/>
        </p:nvSpPr>
        <p:spPr>
          <a:xfrm>
            <a:off x="4572000" y="1653540"/>
            <a:ext cx="3383280" cy="2186940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Focus Group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Small group discussions guided by  moderator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understand opinions and behaviors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Feedback on a new product or logo</a:t>
            </a:r>
          </a:p>
        </p:txBody>
      </p:sp>
    </p:spTree>
    <p:extLst>
      <p:ext uri="{BB962C8B-B14F-4D97-AF65-F5344CB8AC3E}">
        <p14:creationId xmlns:p14="http://schemas.microsoft.com/office/powerpoint/2010/main" val="1900433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61026521-F500-1727-9291-EA8A2B6EDC3B}"/>
              </a:ext>
            </a:extLst>
          </p:cNvPr>
          <p:cNvSpPr/>
          <p:nvPr/>
        </p:nvSpPr>
        <p:spPr>
          <a:xfrm>
            <a:off x="994410" y="1291590"/>
            <a:ext cx="5101590" cy="3416320"/>
          </a:xfrm>
          <a:prstGeom prst="wedgeEllipse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Why Data Collection Methods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accuracy and reliability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better business and research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organizations understand customer behavior 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4E2BD11-8DB4-2994-83E6-CAD89A5E7ED0}"/>
              </a:ext>
            </a:extLst>
          </p:cNvPr>
          <p:cNvSpPr/>
          <p:nvPr/>
        </p:nvSpPr>
        <p:spPr>
          <a:xfrm>
            <a:off x="7418070" y="1852910"/>
            <a:ext cx="4263390" cy="3416320"/>
          </a:xfrm>
          <a:prstGeom prst="wedgeRoundRect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Growing Importance of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Increased use of digital and sensor-based methods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Expanding role in healthcare, business, and technology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collection and labeling market is growing rapidly worldwide </a:t>
            </a:r>
          </a:p>
        </p:txBody>
      </p:sp>
    </p:spTree>
    <p:extLst>
      <p:ext uri="{BB962C8B-B14F-4D97-AF65-F5344CB8AC3E}">
        <p14:creationId xmlns:p14="http://schemas.microsoft.com/office/powerpoint/2010/main" val="229243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71EEDD-2BA2-1DC1-3922-5AE06D2BF507}"/>
              </a:ext>
            </a:extLst>
          </p:cNvPr>
          <p:cNvSpPr/>
          <p:nvPr/>
        </p:nvSpPr>
        <p:spPr>
          <a:xfrm>
            <a:off x="1554480" y="2148840"/>
            <a:ext cx="2480310" cy="40119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Population &amp; Sample</a:t>
            </a:r>
          </a:p>
          <a:p>
            <a:r>
              <a:rPr lang="en-US" b="1" dirty="0"/>
              <a:t>Population</a:t>
            </a:r>
            <a:r>
              <a:rPr lang="en-US" dirty="0"/>
              <a:t> Entire group being studied </a:t>
            </a:r>
          </a:p>
          <a:p>
            <a:r>
              <a:rPr lang="en-US" b="1" dirty="0"/>
              <a:t>Sample:</a:t>
            </a:r>
            <a:r>
              <a:rPr lang="en-US" dirty="0"/>
              <a:t> Smaller group selected from the population </a:t>
            </a:r>
          </a:p>
          <a:p>
            <a:r>
              <a:rPr lang="en-US" b="1" dirty="0"/>
              <a:t>📋 Sampling Frame</a:t>
            </a:r>
          </a:p>
          <a:p>
            <a:r>
              <a:rPr lang="en-US" dirty="0"/>
              <a:t>List or source from which the sample is selected </a:t>
            </a:r>
          </a:p>
          <a:p>
            <a:r>
              <a:rPr lang="en-US" dirty="0"/>
              <a:t>Example: CRM database or customer list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BF1A8-F6BD-4D01-AC22-BD3E4995B2BA}"/>
              </a:ext>
            </a:extLst>
          </p:cNvPr>
          <p:cNvSpPr/>
          <p:nvPr/>
        </p:nvSpPr>
        <p:spPr>
          <a:xfrm>
            <a:off x="5383530" y="3068955"/>
            <a:ext cx="2480310" cy="30975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📊 Primary &amp; Secondary Data</a:t>
            </a:r>
          </a:p>
          <a:p>
            <a:r>
              <a:rPr lang="en-US" b="1" dirty="0"/>
              <a:t>Primary Data:</a:t>
            </a:r>
            <a:r>
              <a:rPr lang="en-US" dirty="0"/>
              <a:t> Collected directly through surveys, interviews, etc. </a:t>
            </a:r>
          </a:p>
          <a:p>
            <a:r>
              <a:rPr lang="en-US" b="1" dirty="0"/>
              <a:t>Secondary Data:</a:t>
            </a:r>
            <a:r>
              <a:rPr lang="en-US" dirty="0"/>
              <a:t> Existing data from reports, statistics, or records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8637E-A0C2-E253-B5AD-CC6D0C68F382}"/>
              </a:ext>
            </a:extLst>
          </p:cNvPr>
          <p:cNvSpPr/>
          <p:nvPr/>
        </p:nvSpPr>
        <p:spPr>
          <a:xfrm>
            <a:off x="8961120" y="3840480"/>
            <a:ext cx="2480310" cy="23202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🏢 Census</a:t>
            </a:r>
          </a:p>
          <a:p>
            <a:r>
              <a:rPr lang="en-US" dirty="0"/>
              <a:t>Collecting data from every member of the population </a:t>
            </a:r>
          </a:p>
          <a:p>
            <a:r>
              <a:rPr lang="en-US" dirty="0"/>
              <a:t>Provides complete coverage but requires more resources 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5677B4D-8087-09F1-3ED7-34D13B1B621E}"/>
              </a:ext>
            </a:extLst>
          </p:cNvPr>
          <p:cNvSpPr/>
          <p:nvPr/>
        </p:nvSpPr>
        <p:spPr>
          <a:xfrm>
            <a:off x="1965960" y="605790"/>
            <a:ext cx="8001000" cy="94869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Data Collection Terms</a:t>
            </a:r>
          </a:p>
        </p:txBody>
      </p:sp>
    </p:spTree>
    <p:extLst>
      <p:ext uri="{BB962C8B-B14F-4D97-AF65-F5344CB8AC3E}">
        <p14:creationId xmlns:p14="http://schemas.microsoft.com/office/powerpoint/2010/main" val="3468555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9DEBCC9F-56C1-66AE-521C-7E85818D2777}"/>
              </a:ext>
            </a:extLst>
          </p:cNvPr>
          <p:cNvSpPr/>
          <p:nvPr/>
        </p:nvSpPr>
        <p:spPr>
          <a:xfrm>
            <a:off x="1268730" y="434340"/>
            <a:ext cx="7875270" cy="90297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/>
              <a:t>Errors &amp; Data Quality Terms</a:t>
            </a: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82D879E0-40B7-3231-5B61-E07511EECD22}"/>
              </a:ext>
            </a:extLst>
          </p:cNvPr>
          <p:cNvSpPr/>
          <p:nvPr/>
        </p:nvSpPr>
        <p:spPr>
          <a:xfrm>
            <a:off x="1268730" y="2446020"/>
            <a:ext cx="3876675" cy="136017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Sampling Bias</a:t>
            </a:r>
          </a:p>
          <a:p>
            <a:r>
              <a:rPr lang="en-US" dirty="0"/>
              <a:t>Occurs when the sample does not represent the population accurately 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0E16C5D-A1BE-AE23-053B-3B5F95EBEB86}"/>
              </a:ext>
            </a:extLst>
          </p:cNvPr>
          <p:cNvSpPr/>
          <p:nvPr/>
        </p:nvSpPr>
        <p:spPr>
          <a:xfrm>
            <a:off x="422910" y="4343400"/>
            <a:ext cx="3371850" cy="136017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Measurement Validity</a:t>
            </a:r>
          </a:p>
          <a:p>
            <a:r>
              <a:rPr lang="en-US" dirty="0"/>
              <a:t>Ensures collected data accurately reflects reality 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3BD4C2D7-11ED-4EF2-208F-2E3969D5D442}"/>
              </a:ext>
            </a:extLst>
          </p:cNvPr>
          <p:cNvSpPr/>
          <p:nvPr/>
        </p:nvSpPr>
        <p:spPr>
          <a:xfrm>
            <a:off x="4042410" y="4387215"/>
            <a:ext cx="3371850" cy="136017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Non-response Error</a:t>
            </a:r>
          </a:p>
          <a:p>
            <a:r>
              <a:rPr lang="en-US" dirty="0"/>
              <a:t>Happens when selected participants do not respond 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8C9F6E37-9DB2-1CC5-AA4F-217B3E0F5D3F}"/>
              </a:ext>
            </a:extLst>
          </p:cNvPr>
          <p:cNvSpPr/>
          <p:nvPr/>
        </p:nvSpPr>
        <p:spPr>
          <a:xfrm>
            <a:off x="7909560" y="4343400"/>
            <a:ext cx="3371850" cy="136017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Total Survey Error</a:t>
            </a:r>
          </a:p>
          <a:p>
            <a:r>
              <a:rPr lang="en-US" dirty="0"/>
              <a:t>Combination of all possible survey errors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619B7750-750C-27FA-49C2-18FF2ADB9AFD}"/>
              </a:ext>
            </a:extLst>
          </p:cNvPr>
          <p:cNvSpPr/>
          <p:nvPr/>
        </p:nvSpPr>
        <p:spPr>
          <a:xfrm>
            <a:off x="5897880" y="2446020"/>
            <a:ext cx="4520565" cy="153162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Cross-Sectional vs Longitudinal Data</a:t>
            </a:r>
          </a:p>
          <a:p>
            <a:r>
              <a:rPr lang="en-US" sz="1400" b="1" dirty="0"/>
              <a:t>Cross-sectional:</a:t>
            </a:r>
            <a:r>
              <a:rPr lang="en-US" sz="1400" dirty="0"/>
              <a:t> Data collected at one point in time</a:t>
            </a:r>
          </a:p>
          <a:p>
            <a:r>
              <a:rPr lang="en-US" sz="1400" b="1" dirty="0"/>
              <a:t>Longitudinal:</a:t>
            </a:r>
            <a:r>
              <a:rPr lang="en-US" sz="1400" dirty="0"/>
              <a:t> Data collected over a period of time </a:t>
            </a:r>
          </a:p>
        </p:txBody>
      </p:sp>
    </p:spTree>
    <p:extLst>
      <p:ext uri="{BB962C8B-B14F-4D97-AF65-F5344CB8AC3E}">
        <p14:creationId xmlns:p14="http://schemas.microsoft.com/office/powerpoint/2010/main" val="3511316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4FD7BE5A-524E-3315-4051-28E2A5DF2010}"/>
              </a:ext>
            </a:extLst>
          </p:cNvPr>
          <p:cNvSpPr/>
          <p:nvPr/>
        </p:nvSpPr>
        <p:spPr>
          <a:xfrm>
            <a:off x="1805940" y="1451610"/>
            <a:ext cx="8572500" cy="92583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Advanced Data Collection Terms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9B65945-8269-25AF-6601-1A6D2FAA3068}"/>
              </a:ext>
            </a:extLst>
          </p:cNvPr>
          <p:cNvSpPr/>
          <p:nvPr/>
        </p:nvSpPr>
        <p:spPr>
          <a:xfrm>
            <a:off x="628650" y="3131820"/>
            <a:ext cx="3451860" cy="2537460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 u="sng" dirty="0" err="1">
                <a:solidFill>
                  <a:schemeClr val="bg1"/>
                </a:solidFill>
              </a:rPr>
              <a:t>Paradata</a:t>
            </a:r>
            <a:endParaRPr lang="en-US" sz="2000" b="1" u="sng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Information about the data collection process itself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Response time or survey format </a:t>
            </a:r>
          </a:p>
          <a:p>
            <a:pPr algn="ctr"/>
            <a:endParaRPr lang="en-IN" dirty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E59B3E6F-55F4-B256-3808-3B978B3DD9EA}"/>
              </a:ext>
            </a:extLst>
          </p:cNvPr>
          <p:cNvSpPr/>
          <p:nvPr/>
        </p:nvSpPr>
        <p:spPr>
          <a:xfrm>
            <a:off x="8111490" y="3131820"/>
            <a:ext cx="3451860" cy="2537460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 u="sng" dirty="0">
                <a:solidFill>
                  <a:schemeClr val="bg1"/>
                </a:solidFill>
              </a:rPr>
              <a:t>Triangulation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multiple data sources or methods for reliability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Combining survey, CRM, and website data </a:t>
            </a:r>
          </a:p>
          <a:p>
            <a:pPr algn="ctr"/>
            <a:endParaRPr lang="en-IN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0AD91032-6742-F502-D09C-E85AA06AE3B0}"/>
              </a:ext>
            </a:extLst>
          </p:cNvPr>
          <p:cNvSpPr/>
          <p:nvPr/>
        </p:nvSpPr>
        <p:spPr>
          <a:xfrm>
            <a:off x="4370070" y="3131820"/>
            <a:ext cx="3451860" cy="2537460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 u="sng" dirty="0">
                <a:solidFill>
                  <a:schemeClr val="bg1"/>
                </a:solidFill>
              </a:rPr>
              <a:t>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Contextual information about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source, format, and collection date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368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64BAA4-98CE-2D22-32F2-EF98B0F54EC7}"/>
              </a:ext>
            </a:extLst>
          </p:cNvPr>
          <p:cNvSpPr/>
          <p:nvPr/>
        </p:nvSpPr>
        <p:spPr>
          <a:xfrm>
            <a:off x="1062990" y="186690"/>
            <a:ext cx="8515350" cy="290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3663A-E6CF-A8B4-79DC-DB3276024AD6}"/>
              </a:ext>
            </a:extLst>
          </p:cNvPr>
          <p:cNvSpPr/>
          <p:nvPr/>
        </p:nvSpPr>
        <p:spPr>
          <a:xfrm>
            <a:off x="1085850" y="3577590"/>
            <a:ext cx="8515350" cy="290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49DDF94-3DBD-1387-6259-8FA1813A1CE1}"/>
              </a:ext>
            </a:extLst>
          </p:cNvPr>
          <p:cNvSpPr/>
          <p:nvPr/>
        </p:nvSpPr>
        <p:spPr>
          <a:xfrm>
            <a:off x="1600200" y="377190"/>
            <a:ext cx="7795260" cy="58293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Collection 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8A4FA-AFFA-9AE4-819D-D4D73D7AC5A0}"/>
              </a:ext>
            </a:extLst>
          </p:cNvPr>
          <p:cNvSpPr/>
          <p:nvPr/>
        </p:nvSpPr>
        <p:spPr>
          <a:xfrm>
            <a:off x="1699260" y="1196340"/>
            <a:ext cx="3589020" cy="1893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Survey &amp; Questionnaire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Google Forms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SurveyMonkey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Type form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Easy form creation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Online response collection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Dashboard-based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6B6DC9-A707-61C4-6F35-7C8C10CE5418}"/>
              </a:ext>
            </a:extLst>
          </p:cNvPr>
          <p:cNvSpPr/>
          <p:nvPr/>
        </p:nvSpPr>
        <p:spPr>
          <a:xfrm>
            <a:off x="5699760" y="1209674"/>
            <a:ext cx="3444240" cy="1880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Field Data Collection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Open Data Kit (ODK)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KoBo</a:t>
            </a:r>
            <a:r>
              <a:rPr lang="en-US" sz="1400" dirty="0"/>
              <a:t> Toolbox </a:t>
            </a:r>
          </a:p>
          <a:p>
            <a:r>
              <a:rPr lang="en-US" b="1" dirty="0">
                <a:solidFill>
                  <a:schemeClr val="bg1"/>
                </a:solidFill>
              </a:rPr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offline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Captures GPS/location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on-site surveys and research 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04F98AE-4EBD-9931-E3D9-409D43754234}"/>
              </a:ext>
            </a:extLst>
          </p:cNvPr>
          <p:cNvSpPr/>
          <p:nvPr/>
        </p:nvSpPr>
        <p:spPr>
          <a:xfrm>
            <a:off x="1653540" y="3756994"/>
            <a:ext cx="7795260" cy="58293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Enterprise &amp; Data Management 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18B59-2D3B-3B32-B4E1-6533A8B2C091}"/>
              </a:ext>
            </a:extLst>
          </p:cNvPr>
          <p:cNvSpPr/>
          <p:nvPr/>
        </p:nvSpPr>
        <p:spPr>
          <a:xfrm>
            <a:off x="1653540" y="4536141"/>
            <a:ext cx="3634740" cy="1944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Enterprise-Level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Fulcrum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Safety Culture iAuditor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Qualtrics </a:t>
            </a:r>
          </a:p>
          <a:p>
            <a:r>
              <a:rPr lang="en-IN" b="1" dirty="0">
                <a:solidFill>
                  <a:schemeClr val="bg1"/>
                </a:solidFill>
              </a:rPr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Real-time data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Multimedia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Integration with analytics systems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F7E7B-652E-5568-3863-E207A7671640}"/>
              </a:ext>
            </a:extLst>
          </p:cNvPr>
          <p:cNvSpPr/>
          <p:nvPr/>
        </p:nvSpPr>
        <p:spPr>
          <a:xfrm>
            <a:off x="5699760" y="4536140"/>
            <a:ext cx="3634740" cy="1944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Data Storage &amp; Visualization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Airtable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Smartsheet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Microsoft Excel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Microsoft Power BI </a:t>
            </a:r>
          </a:p>
          <a:p>
            <a:r>
              <a:rPr lang="en-IN" b="1" dirty="0">
                <a:solidFill>
                  <a:schemeClr val="bg1"/>
                </a:solidFill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Organize and manage large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reports and dashboards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Simplify data analysis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5092970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E2D2F-3D0D-57D2-F4CB-3AFFEA956047}"/>
              </a:ext>
            </a:extLst>
          </p:cNvPr>
          <p:cNvSpPr txBox="1"/>
          <p:nvPr/>
        </p:nvSpPr>
        <p:spPr>
          <a:xfrm>
            <a:off x="7037294" y="80291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2495963-AF13-5706-5B98-C0D3F091A680}"/>
              </a:ext>
            </a:extLst>
          </p:cNvPr>
          <p:cNvSpPr/>
          <p:nvPr/>
        </p:nvSpPr>
        <p:spPr>
          <a:xfrm>
            <a:off x="923365" y="340659"/>
            <a:ext cx="5665694" cy="6006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/>
              <a:t>📊 What is Data Lifecycle Management (DLM)?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50B47-3E5C-575F-BB7D-922A6054DBB9}"/>
              </a:ext>
            </a:extLst>
          </p:cNvPr>
          <p:cNvSpPr/>
          <p:nvPr/>
        </p:nvSpPr>
        <p:spPr>
          <a:xfrm>
            <a:off x="923365" y="941294"/>
            <a:ext cx="5172635" cy="11654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/>
              <a:t>Data Lifecycle Management (DLM) is a policy-based approach used to manage data throughout its lifecycle — from creation to deletion. 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E020CB0-AE5F-2D84-4D5B-3155E26EA018}"/>
              </a:ext>
            </a:extLst>
          </p:cNvPr>
          <p:cNvSpPr/>
          <p:nvPr/>
        </p:nvSpPr>
        <p:spPr>
          <a:xfrm>
            <a:off x="923365" y="2106706"/>
            <a:ext cx="5665694" cy="6006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/>
              <a:t>Stages of DLM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F9FE18-FB58-9704-157C-07AA72AC4DE6}"/>
              </a:ext>
            </a:extLst>
          </p:cNvPr>
          <p:cNvSpPr/>
          <p:nvPr/>
        </p:nvSpPr>
        <p:spPr>
          <a:xfrm>
            <a:off x="923365" y="2707340"/>
            <a:ext cx="5172635" cy="1658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Data Collection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Storage &amp; Backup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Sharing &amp;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Archiving &amp; Deletion </a:t>
            </a:r>
            <a:endParaRPr lang="en-US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4EAE34F-E4C6-A116-D48D-8E7D502F72E3}"/>
              </a:ext>
            </a:extLst>
          </p:cNvPr>
          <p:cNvSpPr/>
          <p:nvPr/>
        </p:nvSpPr>
        <p:spPr>
          <a:xfrm>
            <a:off x="923365" y="4365811"/>
            <a:ext cx="5665694" cy="6006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/>
              <a:t>Goals of DLM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7C6081-A9EE-AF75-7D45-77224EA7A6DC}"/>
              </a:ext>
            </a:extLst>
          </p:cNvPr>
          <p:cNvSpPr/>
          <p:nvPr/>
        </p:nvSpPr>
        <p:spPr>
          <a:xfrm>
            <a:off x="923365" y="4966445"/>
            <a:ext cx="5172635" cy="1658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 data confidentiality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data 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data availability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482E83C1-A1C1-C1F0-30FC-7AC544F6BF63}"/>
              </a:ext>
            </a:extLst>
          </p:cNvPr>
          <p:cNvSpPr/>
          <p:nvPr/>
        </p:nvSpPr>
        <p:spPr>
          <a:xfrm>
            <a:off x="7637929" y="1909482"/>
            <a:ext cx="3630706" cy="3388659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⭐ Importance of DLM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Protects sensitive business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Supports regulatory compliance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Improves data security and accessibility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Reduces risks of data loss and corruption</a:t>
            </a:r>
          </a:p>
        </p:txBody>
      </p:sp>
    </p:spTree>
    <p:extLst>
      <p:ext uri="{BB962C8B-B14F-4D97-AF65-F5344CB8AC3E}">
        <p14:creationId xmlns:p14="http://schemas.microsoft.com/office/powerpoint/2010/main" val="3159894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D62F21-7D1A-1728-E296-A90851668664}"/>
              </a:ext>
            </a:extLst>
          </p:cNvPr>
          <p:cNvSpPr txBox="1"/>
          <p:nvPr/>
        </p:nvSpPr>
        <p:spPr>
          <a:xfrm>
            <a:off x="847164" y="96012"/>
            <a:ext cx="10497671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highlight>
                  <a:srgbClr val="FF0000"/>
                </a:highlight>
              </a:rPr>
              <a:t>Key Stages of Data Lifecycle Management</a:t>
            </a:r>
          </a:p>
          <a:p>
            <a:pPr>
              <a:buNone/>
            </a:pPr>
            <a:endParaRPr lang="en-IN" sz="3200" b="1" dirty="0">
              <a:highlight>
                <a:srgbClr val="808000"/>
              </a:highlight>
            </a:endParaRPr>
          </a:p>
          <a:p>
            <a:pPr>
              <a:buNone/>
            </a:pPr>
            <a:r>
              <a:rPr lang="en-IN" sz="2000" b="1" dirty="0">
                <a:highlight>
                  <a:srgbClr val="808000"/>
                </a:highlight>
              </a:rPr>
              <a:t>1️⃣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Gather and classify relevant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 redundant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Follow privacy regulations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highlight>
                  <a:srgbClr val="808000"/>
                </a:highlight>
              </a:rPr>
              <a:t>2️⃣ Data Storage &amp;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data securely using databases or data lakes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Apply backups, encryption, and access controls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highlight>
                  <a:srgbClr val="808000"/>
                </a:highlight>
              </a:rPr>
              <a:t>3️⃣ 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 raw data into useful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tools like Python, Hadoop, and Apache Spark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highlight>
                  <a:srgbClr val="808000"/>
                </a:highlight>
              </a:rPr>
              <a:t>4️⃣ Data Sharing &amp;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Share operational, master, and metadata securely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collaboration and decision-making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dirty="0">
                <a:highlight>
                  <a:srgbClr val="808000"/>
                </a:highlight>
              </a:rPr>
              <a:t>5️⃣ Data Deletion &amp; Archiving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 unnecessary or duplicate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Archive important data for future use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6528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A9485-0465-D91C-9725-35AADA0608AC}"/>
              </a:ext>
            </a:extLst>
          </p:cNvPr>
          <p:cNvSpPr txBox="1"/>
          <p:nvPr/>
        </p:nvSpPr>
        <p:spPr>
          <a:xfrm>
            <a:off x="591671" y="335845"/>
            <a:ext cx="9825317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800080"/>
                </a:highlight>
              </a:rPr>
              <a:t>Implementing an Effective DLM Strategy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🛡️ Data Governance Policies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Define rules and standards for managing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 accurate and consistent information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🔒 Data Security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Encryption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Access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Masking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Loss Prevention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📜 Compliance with Regulations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GDPR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HIPAA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CCPA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PCI DSS </a:t>
            </a:r>
          </a:p>
          <a:p>
            <a:endParaRPr lang="en-IN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✅ Compliance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Auditing and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assessments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Employee training</a:t>
            </a:r>
          </a:p>
        </p:txBody>
      </p:sp>
    </p:spTree>
    <p:extLst>
      <p:ext uri="{BB962C8B-B14F-4D97-AF65-F5344CB8AC3E}">
        <p14:creationId xmlns:p14="http://schemas.microsoft.com/office/powerpoint/2010/main" val="28307236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8F755-3C26-8992-8DEA-7CCACA963651}"/>
              </a:ext>
            </a:extLst>
          </p:cNvPr>
          <p:cNvSpPr txBox="1"/>
          <p:nvPr/>
        </p:nvSpPr>
        <p:spPr>
          <a:xfrm>
            <a:off x="528918" y="563085"/>
            <a:ext cx="10829365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highlight>
                  <a:srgbClr val="008000"/>
                </a:highlight>
              </a:rPr>
              <a:t>Benefits &amp; Tools of DLM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🌟 Benefits of DLM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data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data governance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Regulatory compliance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Enhanced security and efficiency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highlight>
                  <a:srgbClr val="FF0000"/>
                </a:highlight>
              </a:rPr>
              <a:t>🛠️ Tools &amp; Technologies</a:t>
            </a:r>
          </a:p>
          <a:p>
            <a:pPr>
              <a:buNone/>
            </a:pPr>
            <a:endParaRPr lang="en-IN" b="1" dirty="0">
              <a:highlight>
                <a:srgbClr val="FF0000"/>
              </a:highlight>
            </a:endParaRPr>
          </a:p>
          <a:p>
            <a:pPr>
              <a:buNone/>
            </a:pPr>
            <a:r>
              <a:rPr lang="en-IN" b="1" dirty="0"/>
              <a:t>📂 </a:t>
            </a:r>
            <a:r>
              <a:rPr lang="en-IN" b="1" dirty="0">
                <a:solidFill>
                  <a:schemeClr val="bg1"/>
                </a:solidFill>
              </a:rPr>
              <a:t>Data Management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 and organize business data </a:t>
            </a:r>
          </a:p>
          <a:p>
            <a:pPr>
              <a:buNone/>
            </a:pPr>
            <a:r>
              <a:rPr lang="en-IN" b="1" dirty="0"/>
              <a:t>🏷️ </a:t>
            </a:r>
            <a:r>
              <a:rPr lang="en-IN" b="1" dirty="0">
                <a:solidFill>
                  <a:schemeClr val="bg1"/>
                </a:solidFill>
              </a:rPr>
              <a:t>Data Classification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Oracle Cloud Infrastructure Data </a:t>
            </a:r>
            <a:r>
              <a:rPr lang="en-IN" dirty="0" err="1"/>
              <a:t>Catalog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IBM Watson Knowledge </a:t>
            </a:r>
            <a:r>
              <a:rPr lang="en-IN" dirty="0" err="1"/>
              <a:t>Catalog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Microsoft Purview </a:t>
            </a:r>
          </a:p>
          <a:p>
            <a:pPr>
              <a:buNone/>
            </a:pPr>
            <a:r>
              <a:rPr lang="en-IN" b="1" dirty="0"/>
              <a:t>📈 </a:t>
            </a:r>
            <a:r>
              <a:rPr lang="en-IN" b="1" dirty="0">
                <a:solidFill>
                  <a:schemeClr val="bg1"/>
                </a:solidFill>
              </a:rPr>
              <a:t>Data Monitoring &amp; Analytics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Splunk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Datadog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Logz.io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349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0EC86-A330-6E46-F65D-4560B24D5F7B}"/>
              </a:ext>
            </a:extLst>
          </p:cNvPr>
          <p:cNvSpPr txBox="1"/>
          <p:nvPr/>
        </p:nvSpPr>
        <p:spPr>
          <a:xfrm>
            <a:off x="600634" y="138622"/>
            <a:ext cx="9995647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highlight>
                  <a:srgbClr val="FF0000"/>
                </a:highlight>
              </a:rPr>
              <a:t>Common Challenges &amp; Solutions in Data Lifecycle Management (DLM)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highlight>
                  <a:srgbClr val="808000"/>
                </a:highlight>
              </a:rPr>
              <a:t>Common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allocation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in accurate data capture and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data usage and maintenance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Ensuring compliance and security throughout the data lifecycle </a:t>
            </a:r>
          </a:p>
          <a:p>
            <a:endParaRPr lang="en-US" dirty="0"/>
          </a:p>
          <a:p>
            <a:pPr>
              <a:buNone/>
            </a:pPr>
            <a:r>
              <a:rPr lang="en-US" b="1" dirty="0">
                <a:highlight>
                  <a:srgbClr val="808000"/>
                </a:highlight>
              </a:rPr>
              <a:t>Solutions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FF00"/>
                </a:highlight>
              </a:rPr>
              <a:t>Automated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manual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accuracy and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 data entry, verification, transfer, and archiving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FF00"/>
                </a:highlight>
              </a:rPr>
              <a:t>Proper Data Governance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unified data strategies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clear rules for data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data consistency and accountability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FF00"/>
                </a:highlight>
              </a:rPr>
              <a:t>Strong Security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encryption for data privacy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firewalls and antivirus protection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 systems from cyber threats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9790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040948-F439-4EA7-EBF8-33D6F3B7F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557633"/>
              </p:ext>
            </p:extLst>
          </p:nvPr>
        </p:nvGraphicFramePr>
        <p:xfrm>
          <a:off x="1004701" y="4836319"/>
          <a:ext cx="8947150" cy="109728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2633121282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4197460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38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71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6516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68BA637-FC7A-0943-CD45-57122010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030" y="236577"/>
            <a:ext cx="7675499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Data Integrity &amp; Data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Data Integrity?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remains accurate, complete, consistent, secure, and reliable throughout its lifecycle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data from corruption, unauthorized access, and loss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maintaining trustworthiness of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Data Quality?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accurate, complete, consistent, valid, unique, and timely data is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is fit for use in decision-making and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organizations gain meaningful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ED9C53-7060-7A76-BEE7-A12A9EA69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162918"/>
              </p:ext>
            </p:extLst>
          </p:nvPr>
        </p:nvGraphicFramePr>
        <p:xfrm>
          <a:off x="1175030" y="4314514"/>
          <a:ext cx="81280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708625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52918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565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Focuses on data reliability and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Focuses on usefulness and correctness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32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Prevents corruption and unauthorized changes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Ensures data is accurate and usable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298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5165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1B63A-94A8-25B3-7EA3-50CF4B650BE7}"/>
              </a:ext>
            </a:extLst>
          </p:cNvPr>
          <p:cNvSpPr txBox="1"/>
          <p:nvPr/>
        </p:nvSpPr>
        <p:spPr>
          <a:xfrm>
            <a:off x="923364" y="1266762"/>
            <a:ext cx="1013011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00FF00"/>
                </a:highlight>
              </a:rPr>
              <a:t>Types of Data Integrity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Physical Data Integrity</a:t>
            </a:r>
            <a:r>
              <a:rPr lang="en-IN" dirty="0"/>
              <a:t> Protects data during storage and transfer </a:t>
            </a:r>
          </a:p>
          <a:p>
            <a:r>
              <a:rPr lang="en-IN" dirty="0"/>
              <a:t>Threats: cyberattacks, power failures, disasters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Logical Data Integrity </a:t>
            </a:r>
            <a:r>
              <a:rPr lang="en-IN" dirty="0"/>
              <a:t>Maintains consistency and correctness across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Entity Integrity (remove duplicates)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Referential Integrity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Domain Integrity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User-defined Integrity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highlight>
                  <a:srgbClr val="00FF00"/>
                </a:highlight>
              </a:rPr>
              <a:t>Six Dimensions of Data Quality</a:t>
            </a:r>
          </a:p>
          <a:p>
            <a:pPr>
              <a:buFont typeface="+mj-lt"/>
              <a:buAutoNum type="arabicPeriod"/>
            </a:pPr>
            <a:r>
              <a:rPr lang="en-IN" dirty="0"/>
              <a:t>Accuracy </a:t>
            </a:r>
          </a:p>
          <a:p>
            <a:pPr>
              <a:buFont typeface="+mj-lt"/>
              <a:buAutoNum type="arabicPeriod"/>
            </a:pPr>
            <a:r>
              <a:rPr lang="en-IN" dirty="0"/>
              <a:t>Completeness </a:t>
            </a:r>
          </a:p>
          <a:p>
            <a:pPr>
              <a:buFont typeface="+mj-lt"/>
              <a:buAutoNum type="arabicPeriod"/>
            </a:pPr>
            <a:r>
              <a:rPr lang="en-IN" dirty="0"/>
              <a:t>Consistency </a:t>
            </a:r>
          </a:p>
          <a:p>
            <a:pPr>
              <a:buFont typeface="+mj-lt"/>
              <a:buAutoNum type="arabicPeriod"/>
            </a:pPr>
            <a:r>
              <a:rPr lang="en-IN" dirty="0"/>
              <a:t>Validity </a:t>
            </a:r>
          </a:p>
          <a:p>
            <a:pPr>
              <a:buFont typeface="+mj-lt"/>
              <a:buAutoNum type="arabicPeriod"/>
            </a:pPr>
            <a:r>
              <a:rPr lang="en-IN" dirty="0"/>
              <a:t>Uniqueness </a:t>
            </a:r>
          </a:p>
          <a:p>
            <a:pPr>
              <a:buFont typeface="+mj-lt"/>
              <a:buAutoNum type="arabicPeriod"/>
            </a:pPr>
            <a:r>
              <a:rPr lang="en-IN" dirty="0"/>
              <a:t>Timeliness 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AD52F72-7700-7A97-7F2E-25808DEC436D}"/>
              </a:ext>
            </a:extLst>
          </p:cNvPr>
          <p:cNvSpPr/>
          <p:nvPr/>
        </p:nvSpPr>
        <p:spPr>
          <a:xfrm>
            <a:off x="8193741" y="3429000"/>
            <a:ext cx="3505200" cy="2752165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Examples</a:t>
            </a:r>
          </a:p>
          <a:p>
            <a:pPr>
              <a:buNone/>
            </a:pPr>
            <a:r>
              <a:rPr lang="en-IN" b="1" dirty="0"/>
              <a:t>Data Integrity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Financial database preventing unauthorized transaction changes </a:t>
            </a:r>
          </a:p>
          <a:p>
            <a:pPr>
              <a:buNone/>
            </a:pPr>
            <a:r>
              <a:rPr lang="en-IN" b="1" dirty="0"/>
              <a:t>Data Quality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E-commerce database maintaining accurate customer information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D5ED90F-3ED1-F56F-1EE2-45DF41289063}"/>
              </a:ext>
            </a:extLst>
          </p:cNvPr>
          <p:cNvSpPr/>
          <p:nvPr/>
        </p:nvSpPr>
        <p:spPr>
          <a:xfrm>
            <a:off x="923365" y="230537"/>
            <a:ext cx="5862918" cy="56477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/>
              <a:t>Types, Dimensions &amp; Examples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233990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05595-8D54-2A4D-A30B-1FBED16E1A95}"/>
              </a:ext>
            </a:extLst>
          </p:cNvPr>
          <p:cNvSpPr/>
          <p:nvPr/>
        </p:nvSpPr>
        <p:spPr>
          <a:xfrm>
            <a:off x="726142" y="233082"/>
            <a:ext cx="8382000" cy="627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 &amp; Methods to Ensure Quality and Integrity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AED126-B41F-727F-FBDB-E02AA782A626}"/>
              </a:ext>
            </a:extLst>
          </p:cNvPr>
          <p:cNvSpPr/>
          <p:nvPr/>
        </p:nvSpPr>
        <p:spPr>
          <a:xfrm>
            <a:off x="726141" y="1026459"/>
            <a:ext cx="4186518" cy="24025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Benefits of Good Data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security and compliance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Faster recovery after failures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Reliable business intelligence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machine learning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1BF78-E78A-2048-25B9-EB9370C4E461}"/>
              </a:ext>
            </a:extLst>
          </p:cNvPr>
          <p:cNvSpPr/>
          <p:nvPr/>
        </p:nvSpPr>
        <p:spPr>
          <a:xfrm>
            <a:off x="5674659" y="1026459"/>
            <a:ext cx="4186518" cy="24025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Benefits of Good Data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operational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customer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Accurate analytics and reporting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933F199-7E24-71BA-91A6-41FC7A098324}"/>
              </a:ext>
            </a:extLst>
          </p:cNvPr>
          <p:cNvSpPr/>
          <p:nvPr/>
        </p:nvSpPr>
        <p:spPr>
          <a:xfrm>
            <a:off x="874059" y="5486400"/>
            <a:ext cx="9601200" cy="123712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  <a:p>
            <a:r>
              <a:rPr lang="en-US" dirty="0"/>
              <a:t>Data integrity ensures data reliability and security </a:t>
            </a:r>
          </a:p>
          <a:p>
            <a:r>
              <a:rPr lang="en-US" dirty="0"/>
              <a:t>Data quality ensures accuracy and usability </a:t>
            </a:r>
          </a:p>
          <a:p>
            <a:r>
              <a:rPr lang="en-US" dirty="0"/>
              <a:t>Both are equally important for business success and data-driven decision-making 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0425D2B0-B495-77FC-7827-D2F825E8991A}"/>
              </a:ext>
            </a:extLst>
          </p:cNvPr>
          <p:cNvSpPr/>
          <p:nvPr/>
        </p:nvSpPr>
        <p:spPr>
          <a:xfrm>
            <a:off x="1030147" y="3594848"/>
            <a:ext cx="8831030" cy="1775806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Methods to Ensure Both</a:t>
            </a:r>
          </a:p>
          <a:p>
            <a:r>
              <a:rPr lang="en-US" dirty="0"/>
              <a:t>Data cleansing                    Data governance </a:t>
            </a:r>
          </a:p>
          <a:p>
            <a:r>
              <a:rPr lang="en-US" dirty="0"/>
              <a:t>Data standardization          Data validation &amp; verification </a:t>
            </a:r>
          </a:p>
          <a:p>
            <a:r>
              <a:rPr lang="en-US" dirty="0"/>
              <a:t>Data encryption                  Access control </a:t>
            </a:r>
          </a:p>
          <a:p>
            <a:r>
              <a:rPr lang="en-US" dirty="0"/>
              <a:t>Audit trails and logs             Regular backup &amp; recovery plans</a:t>
            </a:r>
          </a:p>
        </p:txBody>
      </p:sp>
    </p:spTree>
    <p:extLst>
      <p:ext uri="{BB962C8B-B14F-4D97-AF65-F5344CB8AC3E}">
        <p14:creationId xmlns:p14="http://schemas.microsoft.com/office/powerpoint/2010/main" val="13934523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D7C62EEF-61BC-3185-B2B1-EAC88493A85B}"/>
              </a:ext>
            </a:extLst>
          </p:cNvPr>
          <p:cNvSpPr/>
          <p:nvPr/>
        </p:nvSpPr>
        <p:spPr>
          <a:xfrm>
            <a:off x="1250066" y="300943"/>
            <a:ext cx="8171726" cy="70537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Business Analyst Roles &amp; Responsibilities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9E755-5621-A484-01E0-E232FECB807E}"/>
              </a:ext>
            </a:extLst>
          </p:cNvPr>
          <p:cNvSpPr/>
          <p:nvPr/>
        </p:nvSpPr>
        <p:spPr>
          <a:xfrm>
            <a:off x="1250065" y="1123425"/>
            <a:ext cx="6271322" cy="2662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Key Responsibilities of a Business Analyst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Gather and analyze business requirements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Define business problems and solution scope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Facilitate communication between stakeholders and technical teams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and manage project documentation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Perform data analysis and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Recommend process improvements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 implementation and testing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Track and measure project success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107E1764-E023-85B5-7F23-670E398E5A54}"/>
              </a:ext>
            </a:extLst>
          </p:cNvPr>
          <p:cNvSpPr/>
          <p:nvPr/>
        </p:nvSpPr>
        <p:spPr>
          <a:xfrm>
            <a:off x="1250065" y="4970078"/>
            <a:ext cx="2721299" cy="1762416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Requirement Gathering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Conduct interviews and workshops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Document and prioritize requirements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56E0851B-5F5D-8F93-A385-1513193BAEB2}"/>
              </a:ext>
            </a:extLst>
          </p:cNvPr>
          <p:cNvSpPr/>
          <p:nvPr/>
        </p:nvSpPr>
        <p:spPr>
          <a:xfrm>
            <a:off x="4192474" y="4970078"/>
            <a:ext cx="2721299" cy="1762416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Translate business needs into technical requirements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Ensure alignment among teams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E3747A64-56A4-A167-3CA1-89D3C86DF7D3}"/>
              </a:ext>
            </a:extLst>
          </p:cNvPr>
          <p:cNvSpPr/>
          <p:nvPr/>
        </p:nvSpPr>
        <p:spPr>
          <a:xfrm>
            <a:off x="7134884" y="4970078"/>
            <a:ext cx="2721299" cy="1762416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Process Improvement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 bottlenecks and inefficiencies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Suggest optimized workflows and systems 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6932A103-3658-57E0-0907-E9015BD41EA9}"/>
              </a:ext>
            </a:extLst>
          </p:cNvPr>
          <p:cNvSpPr/>
          <p:nvPr/>
        </p:nvSpPr>
        <p:spPr>
          <a:xfrm>
            <a:off x="1250065" y="4025153"/>
            <a:ext cx="8606118" cy="70537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/>
              <a:t>Important Tasks</a:t>
            </a:r>
          </a:p>
        </p:txBody>
      </p:sp>
    </p:spTree>
    <p:extLst>
      <p:ext uri="{BB962C8B-B14F-4D97-AF65-F5344CB8AC3E}">
        <p14:creationId xmlns:p14="http://schemas.microsoft.com/office/powerpoint/2010/main" val="4346964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AD3A7F9-67D6-9B78-E002-D8CAFE9713B7}"/>
              </a:ext>
            </a:extLst>
          </p:cNvPr>
          <p:cNvSpPr/>
          <p:nvPr/>
        </p:nvSpPr>
        <p:spPr>
          <a:xfrm>
            <a:off x="528918" y="367553"/>
            <a:ext cx="8767482" cy="6275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Tools Used &amp; Salary of Business Analysts in India</a:t>
            </a:r>
            <a:endParaRPr lang="en-IN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4E60A-D2F2-D6FC-79A8-E4CAF51D180B}"/>
              </a:ext>
            </a:extLst>
          </p:cNvPr>
          <p:cNvSpPr/>
          <p:nvPr/>
        </p:nvSpPr>
        <p:spPr>
          <a:xfrm>
            <a:off x="528918" y="1066800"/>
            <a:ext cx="7467600" cy="4751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Common Tools Used by Business Analysts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A1167-A715-E9DA-49E4-40AF7432BE3A}"/>
              </a:ext>
            </a:extLst>
          </p:cNvPr>
          <p:cNvSpPr/>
          <p:nvPr/>
        </p:nvSpPr>
        <p:spPr>
          <a:xfrm>
            <a:off x="528918" y="1792941"/>
            <a:ext cx="1846729" cy="1721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 err="1">
                <a:solidFill>
                  <a:schemeClr val="bg1"/>
                </a:solidFill>
              </a:rPr>
              <a:t>Requirements</a:t>
            </a:r>
            <a:r>
              <a:rPr lang="fr-FR" b="1" dirty="0">
                <a:solidFill>
                  <a:schemeClr val="bg1"/>
                </a:solidFill>
              </a:rPr>
              <a:t>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Jira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Confluence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A2985-8477-6D85-2BD7-6D60CB8381DA}"/>
              </a:ext>
            </a:extLst>
          </p:cNvPr>
          <p:cNvSpPr/>
          <p:nvPr/>
        </p:nvSpPr>
        <p:spPr>
          <a:xfrm>
            <a:off x="4831976" y="1792941"/>
            <a:ext cx="1846729" cy="1721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Process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Microsoft Visio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Lucid 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00502-FB55-F5A2-15C7-B86488405E95}"/>
              </a:ext>
            </a:extLst>
          </p:cNvPr>
          <p:cNvSpPr/>
          <p:nvPr/>
        </p:nvSpPr>
        <p:spPr>
          <a:xfrm>
            <a:off x="2680447" y="1792941"/>
            <a:ext cx="1846729" cy="1721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Microsoft 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Tableau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Google Analytics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3F5AA-E10D-E55C-0F4D-4F5DF8B167A3}"/>
              </a:ext>
            </a:extLst>
          </p:cNvPr>
          <p:cNvSpPr/>
          <p:nvPr/>
        </p:nvSpPr>
        <p:spPr>
          <a:xfrm>
            <a:off x="7073153" y="1792941"/>
            <a:ext cx="1846729" cy="1721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Collaboration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Zoom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Microsoft Teams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A21E623-72DF-7FC6-5312-DB84B0499E17}"/>
              </a:ext>
            </a:extLst>
          </p:cNvPr>
          <p:cNvSpPr/>
          <p:nvPr/>
        </p:nvSpPr>
        <p:spPr>
          <a:xfrm>
            <a:off x="528919" y="3684495"/>
            <a:ext cx="4903694" cy="58270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Average Salary in India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71CE66-5CA8-1DC1-B488-99136803B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21087"/>
              </p:ext>
            </p:extLst>
          </p:nvPr>
        </p:nvGraphicFramePr>
        <p:xfrm>
          <a:off x="528918" y="4544210"/>
          <a:ext cx="717176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882">
                  <a:extLst>
                    <a:ext uri="{9D8B030D-6E8A-4147-A177-3AD203B41FA5}">
                      <a16:colId xmlns:a16="http://schemas.microsoft.com/office/drawing/2014/main" val="4011594549"/>
                    </a:ext>
                  </a:extLst>
                </a:gridCol>
                <a:gridCol w="3585882">
                  <a:extLst>
                    <a:ext uri="{9D8B030D-6E8A-4147-A177-3AD203B41FA5}">
                      <a16:colId xmlns:a16="http://schemas.microsoft.com/office/drawing/2014/main" val="1811071179"/>
                    </a:ext>
                  </a:extLst>
                </a:gridCol>
              </a:tblGrid>
              <a:tr h="310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075804"/>
                  </a:ext>
                </a:extLst>
              </a:tr>
              <a:tr h="310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Entry-Level 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₹3 – ₹6 LPA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608136"/>
                  </a:ext>
                </a:extLst>
              </a:tr>
              <a:tr h="310926">
                <a:tc>
                  <a:txBody>
                    <a:bodyPr/>
                    <a:lstStyle/>
                    <a:p>
                      <a:r>
                        <a:rPr lang="en-IN" dirty="0"/>
                        <a:t>Mid-Level 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₹6 – ₹10 LPA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059356"/>
                  </a:ext>
                </a:extLst>
              </a:tr>
              <a:tr h="310926">
                <a:tc>
                  <a:txBody>
                    <a:bodyPr/>
                    <a:lstStyle/>
                    <a:p>
                      <a:r>
                        <a:rPr lang="en-IN" dirty="0"/>
                        <a:t>Senior 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₹12 – ₹18 LPA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222226"/>
                  </a:ext>
                </a:extLst>
              </a:tr>
              <a:tr h="310926">
                <a:tc>
                  <a:txBody>
                    <a:bodyPr/>
                    <a:lstStyle/>
                    <a:p>
                      <a:r>
                        <a:rPr lang="en-IN" dirty="0"/>
                        <a:t>BA Manager/Lead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₹15 – ₹25 LPA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35605"/>
                  </a:ext>
                </a:extLst>
              </a:tr>
              <a:tr h="31092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770372"/>
                  </a:ext>
                </a:extLst>
              </a:tr>
            </a:tbl>
          </a:graphicData>
        </a:graphic>
      </p:graphicFrame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C71A6B92-82FA-8E7B-2FF9-CD16D5DA5750}"/>
              </a:ext>
            </a:extLst>
          </p:cNvPr>
          <p:cNvSpPr/>
          <p:nvPr/>
        </p:nvSpPr>
        <p:spPr>
          <a:xfrm>
            <a:off x="8319247" y="3514165"/>
            <a:ext cx="3639671" cy="2474259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Factors Affecting Salary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Industry (IT, Finance, Consulting)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Location (Bangalore, Mumbai, Delhi NCR)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Certifications &amp; Skills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Experience Level</a:t>
            </a:r>
          </a:p>
        </p:txBody>
      </p:sp>
    </p:spTree>
    <p:extLst>
      <p:ext uri="{BB962C8B-B14F-4D97-AF65-F5344CB8AC3E}">
        <p14:creationId xmlns:p14="http://schemas.microsoft.com/office/powerpoint/2010/main" val="31766437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95B3A834-0B40-2AA4-4F8D-B56F90742DE9}"/>
              </a:ext>
            </a:extLst>
          </p:cNvPr>
          <p:cNvSpPr/>
          <p:nvPr/>
        </p:nvSpPr>
        <p:spPr>
          <a:xfrm>
            <a:off x="1048871" y="349624"/>
            <a:ext cx="6884894" cy="6006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Steps to Become a Business Analyst</a:t>
            </a:r>
            <a:endParaRPr lang="en-IN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E943F6-284F-AB76-327D-8198275C12C0}"/>
              </a:ext>
            </a:extLst>
          </p:cNvPr>
          <p:cNvSpPr/>
          <p:nvPr/>
        </p:nvSpPr>
        <p:spPr>
          <a:xfrm>
            <a:off x="690282" y="1515032"/>
            <a:ext cx="2814918" cy="1712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Step 1: Understand the Role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Learn how BAs bridge business and technology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 interest in problem-solving and analysis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F66E1D8-D48E-CFE5-18AA-E97908A80934}"/>
              </a:ext>
            </a:extLst>
          </p:cNvPr>
          <p:cNvSpPr/>
          <p:nvPr/>
        </p:nvSpPr>
        <p:spPr>
          <a:xfrm>
            <a:off x="3567953" y="1976717"/>
            <a:ext cx="1021976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88E22-1BAA-7551-3594-721E412EEB27}"/>
              </a:ext>
            </a:extLst>
          </p:cNvPr>
          <p:cNvSpPr/>
          <p:nvPr/>
        </p:nvSpPr>
        <p:spPr>
          <a:xfrm>
            <a:off x="690282" y="3899647"/>
            <a:ext cx="2814918" cy="1712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Network &amp; Apply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Build LinkedIn profile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Join BA communities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strong resume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Prepare for interviews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5177C-34A9-3F36-E7C0-6D981A2E00DE}"/>
              </a:ext>
            </a:extLst>
          </p:cNvPr>
          <p:cNvSpPr/>
          <p:nvPr/>
        </p:nvSpPr>
        <p:spPr>
          <a:xfrm>
            <a:off x="4688541" y="3899647"/>
            <a:ext cx="2814918" cy="1712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Gain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Internships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Junior analyst roles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Volunteer projects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20960AF-45E3-8BCE-B92C-87268635A8C0}"/>
              </a:ext>
            </a:extLst>
          </p:cNvPr>
          <p:cNvSpPr/>
          <p:nvPr/>
        </p:nvSpPr>
        <p:spPr>
          <a:xfrm rot="1205716">
            <a:off x="7961179" y="1904058"/>
            <a:ext cx="1021976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1591F7-0961-EB32-9107-09D23EAAA3E5}"/>
              </a:ext>
            </a:extLst>
          </p:cNvPr>
          <p:cNvSpPr/>
          <p:nvPr/>
        </p:nvSpPr>
        <p:spPr>
          <a:xfrm rot="10800000">
            <a:off x="3541057" y="4721767"/>
            <a:ext cx="1021976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E51E5B0-3E69-213C-DBAC-0A8E6B3BF635}"/>
              </a:ext>
            </a:extLst>
          </p:cNvPr>
          <p:cNvSpPr/>
          <p:nvPr/>
        </p:nvSpPr>
        <p:spPr>
          <a:xfrm rot="9321968">
            <a:off x="8074796" y="4721768"/>
            <a:ext cx="1021976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0510E-8231-D06F-A57F-259F10AAACAD}"/>
              </a:ext>
            </a:extLst>
          </p:cNvPr>
          <p:cNvSpPr/>
          <p:nvPr/>
        </p:nvSpPr>
        <p:spPr>
          <a:xfrm>
            <a:off x="4854387" y="1472447"/>
            <a:ext cx="2814918" cy="1754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Step 2: Learn Basic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Critical thinking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Process modeling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CF8D81-5707-E99F-C0BC-782D8D03848A}"/>
              </a:ext>
            </a:extLst>
          </p:cNvPr>
          <p:cNvSpPr/>
          <p:nvPr/>
        </p:nvSpPr>
        <p:spPr>
          <a:xfrm>
            <a:off x="8223038" y="2610968"/>
            <a:ext cx="2814918" cy="1712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Gain Education &amp; Certifications</a:t>
            </a: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BBA/MBA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IT/Computer Science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Economics </a:t>
            </a:r>
          </a:p>
          <a:p>
            <a:pPr algn="ctr"/>
            <a:endParaRPr lang="en-IN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509D475-B74E-BE88-0E07-69481E269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81F3A7-BC2E-DF38-DE0F-41155B879226}"/>
              </a:ext>
            </a:extLst>
          </p:cNvPr>
          <p:cNvSpPr/>
          <p:nvPr/>
        </p:nvSpPr>
        <p:spPr>
          <a:xfrm>
            <a:off x="690282" y="5764835"/>
            <a:ext cx="9287436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  <a:p>
            <a:r>
              <a:rPr lang="en-US" sz="1400" dirty="0"/>
              <a:t>Business analysis is a growing and rewarding career that combines business knowledge, communication, and analytical skills to improve organizational success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38740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86E1C0F-5633-8BBE-8A06-F167BBAB58AF}"/>
              </a:ext>
            </a:extLst>
          </p:cNvPr>
          <p:cNvSpPr/>
          <p:nvPr/>
        </p:nvSpPr>
        <p:spPr>
          <a:xfrm>
            <a:off x="1084729" y="268941"/>
            <a:ext cx="7853083" cy="65442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Introduction to Waterfall &amp; Agile Project Management</a:t>
            </a:r>
            <a:endParaRPr lang="en-IN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8631F9-378F-4006-0D7E-D95591C4D022}"/>
              </a:ext>
            </a:extLst>
          </p:cNvPr>
          <p:cNvSpPr/>
          <p:nvPr/>
        </p:nvSpPr>
        <p:spPr>
          <a:xfrm>
            <a:off x="403412" y="1057836"/>
            <a:ext cx="4706470" cy="56925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What is Waterfall?</a:t>
            </a:r>
          </a:p>
          <a:p>
            <a:r>
              <a:rPr lang="en-US" sz="1400" dirty="0"/>
              <a:t>Linear and step-by-step project management approach </a:t>
            </a:r>
          </a:p>
          <a:p>
            <a:r>
              <a:rPr lang="en-US" b="1" dirty="0">
                <a:solidFill>
                  <a:schemeClr val="bg1"/>
                </a:solidFill>
              </a:rPr>
              <a:t>Best for projects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Clear requirements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Predictable timelines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Fixed scope </a:t>
            </a:r>
          </a:p>
          <a:p>
            <a:r>
              <a:rPr lang="en-US" b="1" dirty="0">
                <a:solidFill>
                  <a:schemeClr val="bg1"/>
                </a:solidFill>
              </a:rPr>
              <a:t>Main Phases: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Initiation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Execution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Monitoring &amp; Control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Closing </a:t>
            </a:r>
          </a:p>
          <a:p>
            <a:r>
              <a:rPr lang="en-US" b="1" dirty="0">
                <a:solidFill>
                  <a:schemeClr val="bg1"/>
                </a:solidFill>
              </a:rPr>
              <a:t>Pros of Waterfall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Clear structure and roadmap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progress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Strong budget control </a:t>
            </a:r>
          </a:p>
          <a:p>
            <a:r>
              <a:rPr lang="en-US" b="1" dirty="0">
                <a:solidFill>
                  <a:schemeClr val="bg1"/>
                </a:solidFill>
              </a:rPr>
              <a:t>Cons of Waterfall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Difficult to handle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Slow delivery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 visible only at the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70764-FC13-DC8C-0904-89822E177AD6}"/>
              </a:ext>
            </a:extLst>
          </p:cNvPr>
          <p:cNvSpPr/>
          <p:nvPr/>
        </p:nvSpPr>
        <p:spPr>
          <a:xfrm>
            <a:off x="5468471" y="1057836"/>
            <a:ext cx="4706470" cy="39265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What is Agile?</a:t>
            </a:r>
          </a:p>
          <a:p>
            <a:r>
              <a:rPr lang="en-US" sz="1400" dirty="0"/>
              <a:t>Flexible and iterative project management method </a:t>
            </a:r>
          </a:p>
          <a:p>
            <a:r>
              <a:rPr lang="en-US" sz="1400" dirty="0"/>
              <a:t>Commonly used in software development </a:t>
            </a:r>
          </a:p>
          <a:p>
            <a:r>
              <a:rPr lang="en-US" b="1" dirty="0">
                <a:solidFill>
                  <a:schemeClr val="bg1"/>
                </a:solidFill>
              </a:rPr>
              <a:t>Focuses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Collaboration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feedback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Continuous improvement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Rapid delivery </a:t>
            </a:r>
          </a:p>
          <a:p>
            <a:r>
              <a:rPr lang="en-US" b="1" dirty="0">
                <a:solidFill>
                  <a:schemeClr val="bg1"/>
                </a:solidFill>
              </a:rPr>
              <a:t>Pros of Agile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Adapts quickly to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feedback and delivery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Better collaboration and quality </a:t>
            </a:r>
          </a:p>
          <a:p>
            <a:r>
              <a:rPr lang="en-US" b="1" dirty="0">
                <a:solidFill>
                  <a:schemeClr val="bg1"/>
                </a:solidFill>
              </a:rPr>
              <a:t>Cons of Agile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constant customer involvement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Scope changes may increase cost/time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Less centralized control</a:t>
            </a:r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CE9BC7D0-F15E-4C28-989B-830945A72EEF}"/>
              </a:ext>
            </a:extLst>
          </p:cNvPr>
          <p:cNvSpPr/>
          <p:nvPr/>
        </p:nvSpPr>
        <p:spPr>
          <a:xfrm>
            <a:off x="5585012" y="5145741"/>
            <a:ext cx="5558117" cy="1443318"/>
          </a:xfrm>
          <a:prstGeom prst="snip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Main Difference</a:t>
            </a:r>
          </a:p>
          <a:p>
            <a:r>
              <a:rPr lang="en-US" b="1" dirty="0"/>
              <a:t>Waterfall:</a:t>
            </a:r>
            <a:r>
              <a:rPr lang="en-US" dirty="0"/>
              <a:t> Best for stable and predictable projects </a:t>
            </a:r>
          </a:p>
          <a:p>
            <a:r>
              <a:rPr lang="en-US" b="1" dirty="0"/>
              <a:t>Agile:</a:t>
            </a:r>
            <a:r>
              <a:rPr lang="en-US" dirty="0"/>
              <a:t> Best for dynamic and changing projects </a:t>
            </a:r>
          </a:p>
        </p:txBody>
      </p:sp>
    </p:spTree>
    <p:extLst>
      <p:ext uri="{BB962C8B-B14F-4D97-AF65-F5344CB8AC3E}">
        <p14:creationId xmlns:p14="http://schemas.microsoft.com/office/powerpoint/2010/main" val="16657933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343A05A2-95E2-F63A-A5DD-325107F9EA9E}"/>
              </a:ext>
            </a:extLst>
          </p:cNvPr>
          <p:cNvSpPr/>
          <p:nvPr/>
        </p:nvSpPr>
        <p:spPr>
          <a:xfrm>
            <a:off x="457199" y="125506"/>
            <a:ext cx="5737413" cy="779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When to Use Agile vs Waterfall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989FA-21FD-567D-A5B5-7576F975D999}"/>
              </a:ext>
            </a:extLst>
          </p:cNvPr>
          <p:cNvSpPr/>
          <p:nvPr/>
        </p:nvSpPr>
        <p:spPr>
          <a:xfrm>
            <a:off x="627529" y="1075765"/>
            <a:ext cx="3702424" cy="46437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Use Waterfall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Requirements are clearly defined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Project scope is fixed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Deadlines are predictable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Strong documentation is needed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Quality control is strict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Suitable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Construction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Manufacturing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Government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infrastructure projects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DD52A-0EA4-FEDC-8E90-24A01A2B0F97}"/>
              </a:ext>
            </a:extLst>
          </p:cNvPr>
          <p:cNvSpPr/>
          <p:nvPr/>
        </p:nvSpPr>
        <p:spPr>
          <a:xfrm>
            <a:off x="4764741" y="1541929"/>
            <a:ext cx="3702424" cy="48499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Use Agile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Requirements change frequently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 delivery is important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feedback is needed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Teams collaborate closely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Innovation and experimentation are required </a:t>
            </a:r>
          </a:p>
          <a:p>
            <a:r>
              <a:rPr lang="en-US" b="1" dirty="0">
                <a:solidFill>
                  <a:schemeClr val="bg1"/>
                </a:solidFill>
              </a:rPr>
              <a:t>Suitable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innovation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Creative and technical projects</a:t>
            </a: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D3C4A3EF-DED8-146A-929C-68F59F78BB7A}"/>
              </a:ext>
            </a:extLst>
          </p:cNvPr>
          <p:cNvSpPr/>
          <p:nvPr/>
        </p:nvSpPr>
        <p:spPr>
          <a:xfrm>
            <a:off x="8749553" y="2913530"/>
            <a:ext cx="2814918" cy="3801036"/>
          </a:xfrm>
          <a:prstGeom prst="plaqu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Conclusion</a:t>
            </a:r>
          </a:p>
          <a:p>
            <a:r>
              <a:rPr lang="en-US" sz="1200" dirty="0"/>
              <a:t>Both Agile and Waterfall are effective project management methods </a:t>
            </a:r>
          </a:p>
          <a:p>
            <a:r>
              <a:rPr lang="en-US" sz="1200" dirty="0"/>
              <a:t>Choosing the right methodology depends 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Project complexity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Timeline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Budget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Stakeholder requirements </a:t>
            </a:r>
          </a:p>
          <a:p>
            <a:r>
              <a:rPr lang="en-US" sz="1200" dirty="0"/>
              <a:t>Flexibility and proper planning are key to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2275323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48AE2-A71C-9267-FDF6-E9FD7D1CECCA}"/>
              </a:ext>
            </a:extLst>
          </p:cNvPr>
          <p:cNvSpPr/>
          <p:nvPr/>
        </p:nvSpPr>
        <p:spPr>
          <a:xfrm>
            <a:off x="770965" y="259976"/>
            <a:ext cx="7073153" cy="833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Raw Data vs Processed Data</a:t>
            </a:r>
          </a:p>
          <a:p>
            <a:r>
              <a:rPr lang="en-US" sz="2000" b="1" dirty="0"/>
              <a:t>Key Differences, Importance &amp; Real-World Applications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C76A02-0C5A-91D4-AB51-FD31DE315A2C}"/>
              </a:ext>
            </a:extLst>
          </p:cNvPr>
          <p:cNvSpPr/>
          <p:nvPr/>
        </p:nvSpPr>
        <p:spPr>
          <a:xfrm>
            <a:off x="770965" y="1178858"/>
            <a:ext cx="5961529" cy="14209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What is Data?</a:t>
            </a:r>
          </a:p>
          <a:p>
            <a:r>
              <a:rPr lang="en-US" sz="1200" dirty="0"/>
              <a:t>Data is a collection of facts, numbers, observations, or records. </a:t>
            </a:r>
          </a:p>
          <a:p>
            <a:r>
              <a:rPr lang="en-US" sz="1200" dirty="0"/>
              <a:t>It helps organizations make decisions and identify trends. </a:t>
            </a:r>
          </a:p>
          <a:p>
            <a:r>
              <a:rPr lang="en-US" b="1" dirty="0">
                <a:solidFill>
                  <a:srgbClr val="FF0000"/>
                </a:solidFill>
              </a:rPr>
              <a:t>Why is this topic important?</a:t>
            </a:r>
          </a:p>
          <a:p>
            <a:r>
              <a:rPr lang="en-US" sz="1200" dirty="0"/>
              <a:t>Because businesses depend on accurate data for better decision-making.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9242DC-8D60-1EA2-A802-EF6B003D6834}"/>
              </a:ext>
            </a:extLst>
          </p:cNvPr>
          <p:cNvSpPr/>
          <p:nvPr/>
        </p:nvSpPr>
        <p:spPr>
          <a:xfrm>
            <a:off x="8005482" y="1730188"/>
            <a:ext cx="2931459" cy="18736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Data exists in two main forms: </a:t>
            </a:r>
            <a:r>
              <a:rPr lang="en-US" b="1" dirty="0"/>
              <a:t>Raw Data &amp;</a:t>
            </a:r>
            <a:r>
              <a:rPr lang="en-US" dirty="0"/>
              <a:t> </a:t>
            </a:r>
            <a:r>
              <a:rPr lang="en-US" b="1" dirty="0"/>
              <a:t>Processed Data</a:t>
            </a:r>
            <a:r>
              <a:rPr lang="en-US" dirty="0"/>
              <a:t> </a:t>
            </a:r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977FB970-A7B7-2C51-102B-6BA37E110400}"/>
              </a:ext>
            </a:extLst>
          </p:cNvPr>
          <p:cNvSpPr/>
          <p:nvPr/>
        </p:nvSpPr>
        <p:spPr>
          <a:xfrm>
            <a:off x="233082" y="3810001"/>
            <a:ext cx="5029201" cy="2788023"/>
          </a:xfrm>
          <a:prstGeom prst="flowChartPreparat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What is Raw Data?</a:t>
            </a:r>
          </a:p>
          <a:p>
            <a:r>
              <a:rPr lang="en-US" sz="1200" dirty="0"/>
              <a:t>Raw data is the </a:t>
            </a:r>
            <a:r>
              <a:rPr lang="en-US" sz="1200" b="1" dirty="0"/>
              <a:t>original and unprocessed information</a:t>
            </a:r>
            <a:r>
              <a:rPr lang="en-US" sz="1200" dirty="0"/>
              <a:t> collected directly from sources.</a:t>
            </a:r>
          </a:p>
          <a:p>
            <a:r>
              <a:rPr lang="en-US" b="1" dirty="0"/>
              <a:t>Examples of Raw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Survey responses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Transaction records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Sensor readings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Social media comments </a:t>
            </a:r>
          </a:p>
          <a:p>
            <a:r>
              <a:rPr lang="en-US" b="1" dirty="0"/>
              <a:t>Important Point</a:t>
            </a:r>
          </a:p>
          <a:p>
            <a:r>
              <a:rPr lang="en-US" sz="1400" dirty="0"/>
              <a:t>Raw data is collected exactly as it appears without modification</a:t>
            </a:r>
            <a:r>
              <a:rPr lang="en-US" dirty="0"/>
              <a:t>.</a:t>
            </a:r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8AC29B78-253B-B503-7A81-C798B67B22F5}"/>
              </a:ext>
            </a:extLst>
          </p:cNvPr>
          <p:cNvSpPr/>
          <p:nvPr/>
        </p:nvSpPr>
        <p:spPr>
          <a:xfrm>
            <a:off x="6338046" y="3810001"/>
            <a:ext cx="5029201" cy="2788023"/>
          </a:xfrm>
          <a:prstGeom prst="flowChartPreparat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Main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Unfiltered and unorganized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 in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May contain errors or duplicates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Difficult to analyze directly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Exists in different formats</a:t>
            </a:r>
          </a:p>
        </p:txBody>
      </p:sp>
    </p:spTree>
    <p:extLst>
      <p:ext uri="{BB962C8B-B14F-4D97-AF65-F5344CB8AC3E}">
        <p14:creationId xmlns:p14="http://schemas.microsoft.com/office/powerpoint/2010/main" val="23755676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A61E0F-E42C-6DC2-E56F-3A94C09AAEB7}"/>
              </a:ext>
            </a:extLst>
          </p:cNvPr>
          <p:cNvSpPr/>
          <p:nvPr/>
        </p:nvSpPr>
        <p:spPr>
          <a:xfrm>
            <a:off x="1057836" y="466165"/>
            <a:ext cx="4007223" cy="37651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is Processed Data?</a:t>
            </a:r>
          </a:p>
          <a:p>
            <a:r>
              <a:rPr lang="en-US" dirty="0"/>
              <a:t>Processed data is data that has been: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Structured for use 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and graphs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insights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D9E65-357E-51C7-39CE-1AB41B81847D}"/>
              </a:ext>
            </a:extLst>
          </p:cNvPr>
          <p:cNvSpPr/>
          <p:nvPr/>
        </p:nvSpPr>
        <p:spPr>
          <a:xfrm>
            <a:off x="6239435" y="466165"/>
            <a:ext cx="4007223" cy="37651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 of Processed Data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 and organized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analyze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Presented in structured 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trends and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decision-making 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</a:t>
            </a:r>
          </a:p>
          <a:p>
            <a:r>
              <a:rPr lang="en-US" dirty="0"/>
              <a:t>Processed data transforms information into knowledge.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DA2376-40DE-5FEE-99FB-34406210546B}"/>
              </a:ext>
            </a:extLst>
          </p:cNvPr>
          <p:cNvSpPr/>
          <p:nvPr/>
        </p:nvSpPr>
        <p:spPr>
          <a:xfrm>
            <a:off x="1057836" y="5333999"/>
            <a:ext cx="2967318" cy="144331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clicks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searches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Purchase records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9DBB54-F9F9-2827-C45D-049A4AF9E4AC}"/>
              </a:ext>
            </a:extLst>
          </p:cNvPr>
          <p:cNvSpPr/>
          <p:nvPr/>
        </p:nvSpPr>
        <p:spPr>
          <a:xfrm>
            <a:off x="4468907" y="5333998"/>
            <a:ext cx="2967318" cy="144331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Processed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Monthly sales report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popular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buying patterns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6825AB3-290E-97DF-EE74-DACECB0EF797}"/>
              </a:ext>
            </a:extLst>
          </p:cNvPr>
          <p:cNvSpPr/>
          <p:nvPr/>
        </p:nvSpPr>
        <p:spPr>
          <a:xfrm>
            <a:off x="1075766" y="4527176"/>
            <a:ext cx="6786283" cy="57374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Real-Life Example</a:t>
            </a:r>
          </a:p>
        </p:txBody>
      </p:sp>
    </p:spTree>
    <p:extLst>
      <p:ext uri="{BB962C8B-B14F-4D97-AF65-F5344CB8AC3E}">
        <p14:creationId xmlns:p14="http://schemas.microsoft.com/office/powerpoint/2010/main" val="38128368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E3478B2-9845-8446-AB4E-94C04C41DBBF}"/>
              </a:ext>
            </a:extLst>
          </p:cNvPr>
          <p:cNvSpPr/>
          <p:nvPr/>
        </p:nvSpPr>
        <p:spPr>
          <a:xfrm>
            <a:off x="1344706" y="475129"/>
            <a:ext cx="6822141" cy="7620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Raw Data Becomes Processed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D54963-2576-8A73-C280-4F529AA92DA8}"/>
              </a:ext>
            </a:extLst>
          </p:cNvPr>
          <p:cNvSpPr/>
          <p:nvPr/>
        </p:nvSpPr>
        <p:spPr>
          <a:xfrm>
            <a:off x="4693023" y="3845860"/>
            <a:ext cx="2716306" cy="20125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Data Analysis</a:t>
            </a:r>
          </a:p>
          <a:p>
            <a:pPr>
              <a:buNone/>
            </a:pPr>
            <a:r>
              <a:rPr lang="en-IN" dirty="0"/>
              <a:t>Finding patterns, trends, and insights.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8F546E-3C8C-AF5F-2044-CC716BB626A0}"/>
              </a:ext>
            </a:extLst>
          </p:cNvPr>
          <p:cNvSpPr/>
          <p:nvPr/>
        </p:nvSpPr>
        <p:spPr>
          <a:xfrm>
            <a:off x="1174376" y="3845860"/>
            <a:ext cx="2716306" cy="20125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Data Aggregation</a:t>
            </a:r>
          </a:p>
          <a:p>
            <a:pPr>
              <a:buNone/>
            </a:pPr>
            <a:r>
              <a:rPr lang="en-IN" dirty="0"/>
              <a:t>Summarizing large datasets.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D7E6F5-1BF3-446D-0667-FBF59EC76107}"/>
              </a:ext>
            </a:extLst>
          </p:cNvPr>
          <p:cNvSpPr/>
          <p:nvPr/>
        </p:nvSpPr>
        <p:spPr>
          <a:xfrm>
            <a:off x="4693023" y="1544170"/>
            <a:ext cx="2716306" cy="20125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Data Transformation</a:t>
            </a:r>
          </a:p>
          <a:p>
            <a:pPr>
              <a:buNone/>
            </a:pPr>
            <a:r>
              <a:rPr lang="en-IN" dirty="0"/>
              <a:t>Converting data into standard formats.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FC768F-9184-7635-405C-1DED95010C33}"/>
              </a:ext>
            </a:extLst>
          </p:cNvPr>
          <p:cNvSpPr/>
          <p:nvPr/>
        </p:nvSpPr>
        <p:spPr>
          <a:xfrm>
            <a:off x="1174376" y="1526241"/>
            <a:ext cx="2716306" cy="20125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 Data Cleaning</a:t>
            </a:r>
          </a:p>
          <a:p>
            <a:pPr>
              <a:buNone/>
            </a:pPr>
            <a:r>
              <a:rPr lang="en-IN" dirty="0"/>
              <a:t>Removing errors, duplicates, and irrelevant information.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3C7F1E-6BAC-C963-C327-D27E2F2BABAE}"/>
              </a:ext>
            </a:extLst>
          </p:cNvPr>
          <p:cNvSpPr/>
          <p:nvPr/>
        </p:nvSpPr>
        <p:spPr>
          <a:xfrm>
            <a:off x="8068235" y="2070847"/>
            <a:ext cx="3908612" cy="363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is Processing Important?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Improves data 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Saves time in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faster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businesses identify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Necessary for reporting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42694677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F763B0E3-6CC8-C291-99AF-053A40A226AB}"/>
              </a:ext>
            </a:extLst>
          </p:cNvPr>
          <p:cNvSpPr/>
          <p:nvPr/>
        </p:nvSpPr>
        <p:spPr>
          <a:xfrm>
            <a:off x="995082" y="170329"/>
            <a:ext cx="7996518" cy="69028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Transforming Information into Knowledge – Part I</a:t>
            </a: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C6E2CE-D514-502F-CB32-E9EF9FA8E6E1}"/>
              </a:ext>
            </a:extLst>
          </p:cNvPr>
          <p:cNvSpPr/>
          <p:nvPr/>
        </p:nvSpPr>
        <p:spPr>
          <a:xfrm>
            <a:off x="1093694" y="950259"/>
            <a:ext cx="7395882" cy="69028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Strategies for Better Information Management &amp; Business Agility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6BC2F4-EA62-084E-B546-2CBBD83F9358}"/>
              </a:ext>
            </a:extLst>
          </p:cNvPr>
          <p:cNvSpPr/>
          <p:nvPr/>
        </p:nvSpPr>
        <p:spPr>
          <a:xfrm>
            <a:off x="3666565" y="1909482"/>
            <a:ext cx="2501153" cy="186465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Core Idea</a:t>
            </a:r>
          </a:p>
          <a:p>
            <a:r>
              <a:rPr lang="en-US" sz="1200" dirty="0"/>
              <a:t>Business changes faster than technology can support. Organizations need better information management to improve agility and decision-making.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485C15-FBBB-DDFC-4C7A-679343D6FCB1}"/>
              </a:ext>
            </a:extLst>
          </p:cNvPr>
          <p:cNvSpPr/>
          <p:nvPr/>
        </p:nvSpPr>
        <p:spPr>
          <a:xfrm>
            <a:off x="268941" y="1909482"/>
            <a:ext cx="2788023" cy="186465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Main Goal</a:t>
            </a:r>
          </a:p>
          <a:p>
            <a:r>
              <a:rPr lang="en-US" sz="1200" dirty="0"/>
              <a:t>Create a system where information becomes valuable knowledge for the business.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688843-3711-1963-1ED4-84424A500124}"/>
              </a:ext>
            </a:extLst>
          </p:cNvPr>
          <p:cNvSpPr/>
          <p:nvPr/>
        </p:nvSpPr>
        <p:spPr>
          <a:xfrm>
            <a:off x="6911788" y="1909481"/>
            <a:ext cx="2788023" cy="186465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Key Insight</a:t>
            </a:r>
          </a:p>
          <a:p>
            <a:r>
              <a:rPr lang="en-US" sz="1200" dirty="0"/>
              <a:t>Effective access to and integration of information increases the value of IT investments</a:t>
            </a:r>
            <a:endParaRPr lang="en-IN" sz="12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8FB19C7-2BEE-9C68-7BAE-5650E9092A4D}"/>
              </a:ext>
            </a:extLst>
          </p:cNvPr>
          <p:cNvSpPr/>
          <p:nvPr/>
        </p:nvSpPr>
        <p:spPr>
          <a:xfrm>
            <a:off x="995082" y="4132726"/>
            <a:ext cx="7996518" cy="69028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The Main Strategy - Recipe for Success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BC195F-4BC2-9442-7E27-15B5A5762B17}"/>
              </a:ext>
            </a:extLst>
          </p:cNvPr>
          <p:cNvSpPr/>
          <p:nvPr/>
        </p:nvSpPr>
        <p:spPr>
          <a:xfrm>
            <a:off x="2160494" y="4939553"/>
            <a:ext cx="5818094" cy="19184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Focus on specific business processes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Create a common business language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Embed language into systems and tools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Build governance and change management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Improve information hygiene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Measure information quality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Measure business impact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Repeat across departments </a:t>
            </a:r>
          </a:p>
          <a:p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3A3D7ED-F426-732A-6802-AA694C643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719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2798EA-FC15-F4C1-AE3A-B15681519907}"/>
              </a:ext>
            </a:extLst>
          </p:cNvPr>
          <p:cNvSpPr/>
          <p:nvPr/>
        </p:nvSpPr>
        <p:spPr>
          <a:xfrm>
            <a:off x="564776" y="286871"/>
            <a:ext cx="4437530" cy="61318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Focus on Specific Processes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Start Small?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Enterprise-wide problems can feel overwhelming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Starting with critical processes gives faster results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Important Balance</a:t>
            </a:r>
          </a:p>
          <a:p>
            <a:r>
              <a:rPr lang="en-US" dirty="0"/>
              <a:t>Too broad → impossible to manage </a:t>
            </a:r>
          </a:p>
          <a:p>
            <a:r>
              <a:rPr lang="en-US" dirty="0"/>
              <a:t>Too narrow → creates silos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</a:t>
            </a:r>
          </a:p>
          <a:p>
            <a:r>
              <a:rPr lang="en-US" dirty="0"/>
              <a:t>Solve specific problems while maintaining an enterprise-wide perspective.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BBA20D-5893-988E-855F-657ED34E229F}"/>
              </a:ext>
            </a:extLst>
          </p:cNvPr>
          <p:cNvSpPr/>
          <p:nvPr/>
        </p:nvSpPr>
        <p:spPr>
          <a:xfrm>
            <a:off x="5504329" y="363071"/>
            <a:ext cx="4437530" cy="61318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Create Common Business Language</a:t>
            </a:r>
          </a:p>
          <a:p>
            <a:endParaRPr lang="en-US" b="1" dirty="0"/>
          </a:p>
          <a:p>
            <a:r>
              <a:rPr lang="en-US" b="1" dirty="0"/>
              <a:t>What Does This Mean?</a:t>
            </a:r>
          </a:p>
          <a:p>
            <a:r>
              <a:rPr lang="en-US" dirty="0"/>
              <a:t>Develop shared terminology across the organization.</a:t>
            </a:r>
          </a:p>
          <a:p>
            <a:endParaRPr lang="en-US" dirty="0"/>
          </a:p>
          <a:p>
            <a:r>
              <a:rPr lang="en-US" b="1" dirty="0"/>
              <a:t>Includes: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Enterprise Architecture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Taxonomy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Metadata Strategy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Information Models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Master Data Management </a:t>
            </a:r>
          </a:p>
          <a:p>
            <a:endParaRPr lang="en-US" dirty="0"/>
          </a:p>
          <a:p>
            <a:r>
              <a:rPr lang="en-US" b="1" dirty="0"/>
              <a:t>Key Insight</a:t>
            </a:r>
          </a:p>
          <a:p>
            <a:r>
              <a:rPr lang="en-US" dirty="0"/>
              <a:t>Business users must help define business language, not only IT teams.</a:t>
            </a:r>
          </a:p>
        </p:txBody>
      </p:sp>
    </p:spTree>
    <p:extLst>
      <p:ext uri="{BB962C8B-B14F-4D97-AF65-F5344CB8AC3E}">
        <p14:creationId xmlns:p14="http://schemas.microsoft.com/office/powerpoint/2010/main" val="161793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A3314E-02E1-80AA-9964-ABB06A4FF758}"/>
              </a:ext>
            </a:extLst>
          </p:cNvPr>
          <p:cNvSpPr/>
          <p:nvPr/>
        </p:nvSpPr>
        <p:spPr>
          <a:xfrm>
            <a:off x="1290918" y="448235"/>
            <a:ext cx="5056094" cy="29807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Mistakes Organizations Make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Treating it as only an IT project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Handing everything to technical experts alone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Focusing too broadly or too narrowly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Ignoring governance and long-term maintenance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Using outdated approaches and resources</a:t>
            </a:r>
          </a:p>
        </p:txBody>
      </p:sp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1DAF17DD-44FE-C54B-612A-F15F6296383A}"/>
              </a:ext>
            </a:extLst>
          </p:cNvPr>
          <p:cNvSpPr/>
          <p:nvPr/>
        </p:nvSpPr>
        <p:spPr>
          <a:xfrm>
            <a:off x="6472520" y="448235"/>
            <a:ext cx="3352800" cy="2846294"/>
          </a:xfrm>
          <a:prstGeom prst="left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Successful projects require collaboration between business and technical teams.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F6FB6A-DFD9-84DF-B01F-14FAF949F62F}"/>
              </a:ext>
            </a:extLst>
          </p:cNvPr>
          <p:cNvSpPr/>
          <p:nvPr/>
        </p:nvSpPr>
        <p:spPr>
          <a:xfrm>
            <a:off x="609600" y="3872752"/>
            <a:ext cx="10587318" cy="26804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Embed Language into Systems &amp; Tools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  <a:p>
            <a:r>
              <a:rPr lang="en-US" dirty="0"/>
              <a:t>Create consistency across the </a:t>
            </a:r>
          </a:p>
          <a:p>
            <a:r>
              <a:rPr lang="en-US" dirty="0"/>
              <a:t>organization’s information </a:t>
            </a:r>
          </a:p>
          <a:p>
            <a:r>
              <a:rPr lang="en-US" dirty="0"/>
              <a:t>systems.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Tools Involved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Search systems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Reporting tools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Content management systems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Data warehouses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Collaboration platforms</a:t>
            </a:r>
          </a:p>
        </p:txBody>
      </p:sp>
    </p:spTree>
    <p:extLst>
      <p:ext uri="{BB962C8B-B14F-4D97-AF65-F5344CB8AC3E}">
        <p14:creationId xmlns:p14="http://schemas.microsoft.com/office/powerpoint/2010/main" val="12127181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B78D77-FDCF-4797-E5F5-E4FEF215F7E3}"/>
              </a:ext>
            </a:extLst>
          </p:cNvPr>
          <p:cNvSpPr/>
          <p:nvPr/>
        </p:nvSpPr>
        <p:spPr>
          <a:xfrm>
            <a:off x="5432611" y="331689"/>
            <a:ext cx="4858871" cy="29583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Information Hygiene</a:t>
            </a:r>
          </a:p>
          <a:p>
            <a:r>
              <a:rPr lang="en-US" b="1" dirty="0"/>
              <a:t>What is Information Hygiene?</a:t>
            </a:r>
          </a:p>
          <a:p>
            <a:r>
              <a:rPr lang="en-US" sz="1200" dirty="0"/>
              <a:t>Maintaining clean, useful, and organized information.</a:t>
            </a:r>
          </a:p>
          <a:p>
            <a:r>
              <a:rPr lang="en-US" b="1" dirty="0"/>
              <a:t>Best Practices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Develop information lifecycles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Use correct collaboration tools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Organize important information properly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Assign ownership and curation </a:t>
            </a:r>
          </a:p>
          <a:p>
            <a:r>
              <a:rPr lang="en-US" b="1" dirty="0"/>
              <a:t>Important Statistic</a:t>
            </a:r>
          </a:p>
          <a:p>
            <a:r>
              <a:rPr lang="en-US" sz="1200" dirty="0"/>
              <a:t>IBM predicts enterprise information growth of </a:t>
            </a:r>
            <a:r>
              <a:rPr lang="en-US" sz="1200" b="1" dirty="0"/>
              <a:t>650%</a:t>
            </a:r>
            <a:r>
              <a:rPr lang="en-US" sz="1200" dirty="0"/>
              <a:t>, with </a:t>
            </a:r>
            <a:r>
              <a:rPr lang="en-US" sz="1200" b="1" dirty="0"/>
              <a:t>80% unstructured data</a:t>
            </a:r>
            <a:r>
              <a:rPr lang="en-US" sz="1200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85BAC-D50A-D9A4-D28E-2CC32463661D}"/>
              </a:ext>
            </a:extLst>
          </p:cNvPr>
          <p:cNvSpPr/>
          <p:nvPr/>
        </p:nvSpPr>
        <p:spPr>
          <a:xfrm>
            <a:off x="5522258" y="3567955"/>
            <a:ext cx="4858871" cy="313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Expand Across Departments</a:t>
            </a:r>
          </a:p>
          <a:p>
            <a:r>
              <a:rPr lang="en-US" b="1" dirty="0"/>
              <a:t>Build a Center of Excellence</a:t>
            </a:r>
          </a:p>
          <a:p>
            <a:r>
              <a:rPr lang="en-US" dirty="0"/>
              <a:t>After success in one area: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Apply practices to other departments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Improve organizational maturity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Develop long-term information management habits </a:t>
            </a:r>
          </a:p>
          <a:p>
            <a:r>
              <a:rPr lang="en-US" b="1" dirty="0"/>
              <a:t>Important Point</a:t>
            </a:r>
          </a:p>
          <a:p>
            <a:r>
              <a:rPr lang="en-US" dirty="0"/>
              <a:t>Information management is a continuous journey, not a one-time project.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1A5F8-2B89-9E5F-AF06-8453B86934A9}"/>
              </a:ext>
            </a:extLst>
          </p:cNvPr>
          <p:cNvSpPr/>
          <p:nvPr/>
        </p:nvSpPr>
        <p:spPr>
          <a:xfrm>
            <a:off x="161362" y="331690"/>
            <a:ext cx="4858871" cy="29583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Governance &amp; Change Management</a:t>
            </a:r>
          </a:p>
          <a:p>
            <a:r>
              <a:rPr lang="en-US" b="1" dirty="0"/>
              <a:t>Why Governance Matters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Governance ensures: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Continuous improvement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Proper resource allocation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Compliance with policies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Monitoring of progress </a:t>
            </a:r>
          </a:p>
          <a:p>
            <a:r>
              <a:rPr lang="en-US" b="1" dirty="0"/>
              <a:t>Change Management</a:t>
            </a:r>
          </a:p>
          <a:p>
            <a:r>
              <a:rPr lang="en-US" sz="1400" dirty="0"/>
              <a:t>Programs succeed only when:</a:t>
            </a:r>
          </a:p>
          <a:p>
            <a:r>
              <a:rPr lang="en-US" sz="1400" dirty="0"/>
              <a:t>Employees understand benefits </a:t>
            </a:r>
          </a:p>
          <a:p>
            <a:r>
              <a:rPr lang="en-US" sz="1400" dirty="0"/>
              <a:t>Users support the changes </a:t>
            </a:r>
          </a:p>
          <a:p>
            <a:r>
              <a:rPr lang="en-US" sz="1400" dirty="0"/>
              <a:t>Communication is effective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B193B1-F65E-1440-8451-2A862FD0CE15}"/>
              </a:ext>
            </a:extLst>
          </p:cNvPr>
          <p:cNvSpPr/>
          <p:nvPr/>
        </p:nvSpPr>
        <p:spPr>
          <a:xfrm>
            <a:off x="161361" y="3567955"/>
            <a:ext cx="4858871" cy="313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Measuring Success</a:t>
            </a:r>
          </a:p>
          <a:p>
            <a:r>
              <a:rPr lang="en-US" b="1" dirty="0"/>
              <a:t>Measure Information Management</a:t>
            </a:r>
          </a:p>
          <a:p>
            <a:r>
              <a:rPr lang="en-US" sz="1200" dirty="0"/>
              <a:t>Track: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Content quality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Search effectiveness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Content age and review frequency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Governance compliance </a:t>
            </a:r>
          </a:p>
          <a:p>
            <a:r>
              <a:rPr lang="en-US" b="1" dirty="0"/>
              <a:t>Measure Business Impact</a:t>
            </a:r>
          </a:p>
          <a:p>
            <a:r>
              <a:rPr lang="en-US" sz="1200" dirty="0"/>
              <a:t>Analyze how quality content improves: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Customer service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Sales performance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Customer retention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Time to market </a:t>
            </a:r>
          </a:p>
          <a:p>
            <a:r>
              <a:rPr lang="en-US" b="1" dirty="0"/>
              <a:t>Key Insight</a:t>
            </a:r>
          </a:p>
          <a:p>
            <a:r>
              <a:rPr lang="en-US" sz="1200" dirty="0"/>
              <a:t>Content quality directly affects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122052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AF30F94-2DCF-52B2-9DD6-013FE8D769A9}"/>
              </a:ext>
            </a:extLst>
          </p:cNvPr>
          <p:cNvSpPr/>
          <p:nvPr/>
        </p:nvSpPr>
        <p:spPr>
          <a:xfrm>
            <a:off x="663388" y="995082"/>
            <a:ext cx="8390964" cy="60960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Role of Information &amp; Asymmetric Information in Economics</a:t>
            </a:r>
            <a:endParaRPr lang="en-IN" sz="2000" dirty="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C14B91CA-5DCB-65E6-7AD3-55B1A30C6E44}"/>
              </a:ext>
            </a:extLst>
          </p:cNvPr>
          <p:cNvSpPr/>
          <p:nvPr/>
        </p:nvSpPr>
        <p:spPr>
          <a:xfrm>
            <a:off x="663388" y="295835"/>
            <a:ext cx="6427693" cy="60960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Importance of Information for Decision Making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73848-0869-9C55-54D5-3D080F60E792}"/>
              </a:ext>
            </a:extLst>
          </p:cNvPr>
          <p:cNvSpPr/>
          <p:nvPr/>
        </p:nvSpPr>
        <p:spPr>
          <a:xfrm>
            <a:off x="663388" y="1783977"/>
            <a:ext cx="7664823" cy="47781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/>
              <a:t>Decision Making in Economics</a:t>
            </a:r>
          </a:p>
          <a:p>
            <a:endParaRPr lang="en-US" b="1" dirty="0"/>
          </a:p>
          <a:p>
            <a:r>
              <a:rPr lang="en-US" dirty="0"/>
              <a:t>Decision making involves choices made by: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Individuals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Firms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Governments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2000" b="1" dirty="0"/>
              <a:t>Purpose</a:t>
            </a:r>
          </a:p>
          <a:p>
            <a:r>
              <a:rPr lang="en-US" dirty="0"/>
              <a:t>To allocate scarce resources efficiently.</a:t>
            </a:r>
          </a:p>
          <a:p>
            <a:endParaRPr lang="en-US" dirty="0"/>
          </a:p>
          <a:p>
            <a:r>
              <a:rPr lang="en-US" sz="2000" b="1" dirty="0"/>
              <a:t>Why Information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helps decision-makers: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alternatives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market conditions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B32B6B-55F5-B261-CB32-075C5C943553}"/>
              </a:ext>
            </a:extLst>
          </p:cNvPr>
          <p:cNvSpPr/>
          <p:nvPr/>
        </p:nvSpPr>
        <p:spPr>
          <a:xfrm>
            <a:off x="8462681" y="2312894"/>
            <a:ext cx="3155577" cy="36844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Better information leads to better decisions and more efficient markets.</a:t>
            </a:r>
            <a:endParaRPr lang="en-IN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15057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FC8926-4A8B-FDA6-23F8-9CC952971D2C}"/>
              </a:ext>
            </a:extLst>
          </p:cNvPr>
          <p:cNvSpPr/>
          <p:nvPr/>
        </p:nvSpPr>
        <p:spPr>
          <a:xfrm>
            <a:off x="416858" y="833717"/>
            <a:ext cx="6956612" cy="5585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Optimal Resource Allocation</a:t>
            </a:r>
          </a:p>
          <a:p>
            <a:r>
              <a:rPr lang="en-US" dirty="0"/>
              <a:t>Helps use resources efficiently.</a:t>
            </a:r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Risk Management</a:t>
            </a:r>
          </a:p>
          <a:p>
            <a:r>
              <a:rPr lang="en-US" dirty="0"/>
              <a:t>Allows better prediction and reduction of risks.</a:t>
            </a:r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Market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Provides knowledge about: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Consumer preferences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Market trends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Competitor actions </a:t>
            </a:r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Policy Formulation</a:t>
            </a:r>
          </a:p>
          <a:p>
            <a:r>
              <a:rPr lang="en-US" dirty="0"/>
              <a:t>Governments use economic data to create effective policies.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Investment Decisions</a:t>
            </a:r>
          </a:p>
          <a:p>
            <a:r>
              <a:rPr lang="en-US" dirty="0"/>
              <a:t>Investors rely on market and company information for better investments.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3AF0A9A5-5B44-391F-4DB4-4CE9E1BCA784}"/>
              </a:ext>
            </a:extLst>
          </p:cNvPr>
          <p:cNvSpPr/>
          <p:nvPr/>
        </p:nvSpPr>
        <p:spPr>
          <a:xfrm>
            <a:off x="416858" y="107576"/>
            <a:ext cx="7207623" cy="7261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Importance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D9FA8-7573-EF9C-82A6-91194C6BB4E7}"/>
              </a:ext>
            </a:extLst>
          </p:cNvPr>
          <p:cNvSpPr/>
          <p:nvPr/>
        </p:nvSpPr>
        <p:spPr>
          <a:xfrm>
            <a:off x="1497105" y="1066800"/>
            <a:ext cx="4796117" cy="4123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Key Roles of Information</a:t>
            </a:r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FFC685FC-7174-7630-1EC8-048A4A46FC2D}"/>
              </a:ext>
            </a:extLst>
          </p:cNvPr>
          <p:cNvSpPr/>
          <p:nvPr/>
        </p:nvSpPr>
        <p:spPr>
          <a:xfrm>
            <a:off x="7624480" y="1380566"/>
            <a:ext cx="4415119" cy="4616822"/>
          </a:xfrm>
          <a:prstGeom prst="flowChartPreparati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u="sng" dirty="0"/>
              <a:t>Challenges in Information Gathering</a:t>
            </a:r>
          </a:p>
          <a:p>
            <a:endParaRPr lang="en-US" sz="2400" b="1" dirty="0"/>
          </a:p>
          <a:p>
            <a:r>
              <a:rPr lang="en-US" b="1" dirty="0"/>
              <a:t>Information Costs</a:t>
            </a:r>
          </a:p>
          <a:p>
            <a:r>
              <a:rPr lang="en-US" sz="1200" dirty="0"/>
              <a:t>Collecting and processing information can be expensive. </a:t>
            </a:r>
          </a:p>
          <a:p>
            <a:r>
              <a:rPr lang="en-US" b="1" dirty="0"/>
              <a:t>Incomplete Information</a:t>
            </a:r>
          </a:p>
          <a:p>
            <a:r>
              <a:rPr lang="en-US" sz="1200" dirty="0"/>
              <a:t>Decision-makers may not always have full information. </a:t>
            </a:r>
          </a:p>
          <a:p>
            <a:r>
              <a:rPr lang="en-US" sz="1200" dirty="0"/>
              <a:t>This creates uncertainty and affects decision quality. </a:t>
            </a:r>
          </a:p>
          <a:p>
            <a:r>
              <a:rPr lang="en-US" b="1" dirty="0"/>
              <a:t>Key Insight</a:t>
            </a:r>
          </a:p>
          <a:p>
            <a:r>
              <a:rPr lang="en-US" sz="1200" dirty="0"/>
              <a:t>Better information improves decisions, but obtaining it has costs and limitations</a:t>
            </a:r>
            <a:r>
              <a:rPr lang="en-US" dirty="0"/>
              <a:t>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6832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0D9C15-D738-19AB-1B5F-70109227E2B1}"/>
              </a:ext>
            </a:extLst>
          </p:cNvPr>
          <p:cNvSpPr/>
          <p:nvPr/>
        </p:nvSpPr>
        <p:spPr>
          <a:xfrm>
            <a:off x="681317" y="968189"/>
            <a:ext cx="3218330" cy="342451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Definition</a:t>
            </a:r>
          </a:p>
          <a:p>
            <a:r>
              <a:rPr lang="en-US" sz="1400" dirty="0"/>
              <a:t>Asymmetric information occurs when One party has more or better information than another. </a:t>
            </a:r>
          </a:p>
          <a:p>
            <a:r>
              <a:rPr lang="en-US" b="1" dirty="0"/>
              <a:t>Result</a:t>
            </a:r>
          </a:p>
          <a:p>
            <a:r>
              <a:rPr lang="en-US" sz="1400" dirty="0"/>
              <a:t>This can create unfair advantages and market inefficiencies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sz="1400" dirty="0"/>
              <a:t>Insurance companies may not fully know the risk profile of customers</a:t>
            </a:r>
            <a:r>
              <a:rPr lang="en-US" dirty="0"/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69C7C4-7FF4-CDD3-4F26-F8F2C9D2FDB5}"/>
              </a:ext>
            </a:extLst>
          </p:cNvPr>
          <p:cNvSpPr/>
          <p:nvPr/>
        </p:nvSpPr>
        <p:spPr>
          <a:xfrm>
            <a:off x="4482351" y="968189"/>
            <a:ext cx="6069108" cy="342451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Effects of Asymmetric Information</a:t>
            </a:r>
          </a:p>
          <a:p>
            <a:r>
              <a:rPr lang="en-US" b="1" dirty="0"/>
              <a:t>Market Failure</a:t>
            </a:r>
          </a:p>
          <a:p>
            <a:r>
              <a:rPr lang="en-US" sz="1400" dirty="0"/>
              <a:t>Resources are not allocated efficiently.</a:t>
            </a:r>
          </a:p>
          <a:p>
            <a:r>
              <a:rPr lang="en-US" b="1" dirty="0"/>
              <a:t>Adverse Selection</a:t>
            </a:r>
          </a:p>
          <a:p>
            <a:r>
              <a:rPr lang="en-US" sz="1400" dirty="0"/>
              <a:t>High-risk individuals are more likely to join certain transactions</a:t>
            </a:r>
            <a:r>
              <a:rPr lang="en-US" dirty="0"/>
              <a:t>.</a:t>
            </a:r>
          </a:p>
          <a:p>
            <a:r>
              <a:rPr lang="en-US" b="1" dirty="0"/>
              <a:t>Moral Hazard</a:t>
            </a:r>
          </a:p>
          <a:p>
            <a:r>
              <a:rPr lang="en-US" sz="1400" dirty="0"/>
              <a:t>People may behave irresponsibly after entering agreements because actions are not monitored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sz="1400" dirty="0"/>
              <a:t>An insured person may take greater risks after getting insurance coverage.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EF490335-B5A8-FDE7-1E51-6357C995A602}"/>
              </a:ext>
            </a:extLst>
          </p:cNvPr>
          <p:cNvSpPr/>
          <p:nvPr/>
        </p:nvSpPr>
        <p:spPr>
          <a:xfrm>
            <a:off x="796738" y="324411"/>
            <a:ext cx="3569074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Asymmetric Information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A74A7F-2036-759E-5F5F-19FC751B5E74}"/>
              </a:ext>
            </a:extLst>
          </p:cNvPr>
          <p:cNvSpPr/>
          <p:nvPr/>
        </p:nvSpPr>
        <p:spPr>
          <a:xfrm>
            <a:off x="2983006" y="4728882"/>
            <a:ext cx="2178424" cy="20484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DCE91C-D85A-2709-A66F-1375021DD67F}"/>
              </a:ext>
            </a:extLst>
          </p:cNvPr>
          <p:cNvSpPr/>
          <p:nvPr/>
        </p:nvSpPr>
        <p:spPr>
          <a:xfrm>
            <a:off x="5246595" y="4728881"/>
            <a:ext cx="2178424" cy="20484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Signaling</a:t>
            </a:r>
          </a:p>
          <a:p>
            <a:r>
              <a:rPr lang="en-US" dirty="0">
                <a:solidFill>
                  <a:schemeClr val="tx1"/>
                </a:solidFill>
              </a:rPr>
              <a:t>Providing proof or information to reduce uncertainty</a:t>
            </a:r>
            <a:r>
              <a:rPr lang="en-US" dirty="0"/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04A989-998F-5B0F-0042-1ABBEC218955}"/>
              </a:ext>
            </a:extLst>
          </p:cNvPr>
          <p:cNvSpPr/>
          <p:nvPr/>
        </p:nvSpPr>
        <p:spPr>
          <a:xfrm>
            <a:off x="7516905" y="4746812"/>
            <a:ext cx="2178424" cy="20484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Regulation &amp; Disclosure</a:t>
            </a:r>
          </a:p>
          <a:p>
            <a:r>
              <a:rPr lang="en-US" sz="1600" dirty="0">
                <a:solidFill>
                  <a:schemeClr val="tx1"/>
                </a:solidFill>
              </a:rPr>
              <a:t>Governments create rules to ensure transparency and equal access to information.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8AC927A-1F95-BD77-087B-05EC505CAC0B}"/>
              </a:ext>
            </a:extLst>
          </p:cNvPr>
          <p:cNvSpPr/>
          <p:nvPr/>
        </p:nvSpPr>
        <p:spPr>
          <a:xfrm>
            <a:off x="9780494" y="4733365"/>
            <a:ext cx="2178424" cy="20484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Goal</a:t>
            </a:r>
          </a:p>
          <a:p>
            <a:r>
              <a:rPr lang="en-US" dirty="0">
                <a:solidFill>
                  <a:schemeClr val="tx1"/>
                </a:solidFill>
              </a:rPr>
              <a:t>Reduce information imbalance and improve market efficiency</a:t>
            </a:r>
            <a:r>
              <a:rPr lang="en-US" dirty="0"/>
              <a:t>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189233-A4EF-612A-A67A-60295F49E579}"/>
              </a:ext>
            </a:extLst>
          </p:cNvPr>
          <p:cNvSpPr/>
          <p:nvPr/>
        </p:nvSpPr>
        <p:spPr>
          <a:xfrm>
            <a:off x="385482" y="4728881"/>
            <a:ext cx="2411506" cy="17884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Arial Rounded MT Bold" panose="020F0704030504030204" pitchFamily="34" charset="0"/>
              </a:rPr>
              <a:t>Reducing Asymmetric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ACE93-635B-EE11-3CE2-54D2D03EE558}"/>
              </a:ext>
            </a:extLst>
          </p:cNvPr>
          <p:cNvSpPr txBox="1"/>
          <p:nvPr/>
        </p:nvSpPr>
        <p:spPr>
          <a:xfrm>
            <a:off x="3287807" y="4962887"/>
            <a:ext cx="160692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Screening</a:t>
            </a:r>
          </a:p>
          <a:p>
            <a:pPr>
              <a:buNone/>
            </a:pPr>
            <a:r>
              <a:rPr lang="en-US" dirty="0"/>
              <a:t>Separating </a:t>
            </a:r>
          </a:p>
          <a:p>
            <a:pPr>
              <a:buNone/>
            </a:pPr>
            <a:r>
              <a:rPr lang="en-US" dirty="0"/>
              <a:t>high-risk and </a:t>
            </a:r>
          </a:p>
          <a:p>
            <a:pPr>
              <a:buNone/>
            </a:pPr>
            <a:r>
              <a:rPr lang="en-US" dirty="0"/>
              <a:t>low-risk </a:t>
            </a:r>
          </a:p>
          <a:p>
            <a:pPr>
              <a:buNone/>
            </a:pPr>
            <a:r>
              <a:rPr lang="en-US" dirty="0"/>
              <a:t>individuals.</a:t>
            </a:r>
          </a:p>
        </p:txBody>
      </p:sp>
    </p:spTree>
    <p:extLst>
      <p:ext uri="{BB962C8B-B14F-4D97-AF65-F5344CB8AC3E}">
        <p14:creationId xmlns:p14="http://schemas.microsoft.com/office/powerpoint/2010/main" val="40723924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7F74015-1C79-4E47-48D5-8E4DBEA802BF}"/>
              </a:ext>
            </a:extLst>
          </p:cNvPr>
          <p:cNvSpPr/>
          <p:nvPr/>
        </p:nvSpPr>
        <p:spPr>
          <a:xfrm>
            <a:off x="833717" y="1367117"/>
            <a:ext cx="10345271" cy="7575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5 Essential Steps to Master Data-Driven Decision-Making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BE81A079-04F3-F049-5651-DED1F671D028}"/>
              </a:ext>
            </a:extLst>
          </p:cNvPr>
          <p:cNvSpPr/>
          <p:nvPr/>
        </p:nvSpPr>
        <p:spPr>
          <a:xfrm>
            <a:off x="833717" y="2308412"/>
            <a:ext cx="6929718" cy="7575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The Ultimate Guide to Implementing DDDM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4A6BC-1D8E-6648-3275-B52B800957DB}"/>
              </a:ext>
            </a:extLst>
          </p:cNvPr>
          <p:cNvSpPr/>
          <p:nvPr/>
        </p:nvSpPr>
        <p:spPr>
          <a:xfrm>
            <a:off x="833717" y="3325906"/>
            <a:ext cx="3792071" cy="261769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Data-Driven Decision-Making (DDDM)?</a:t>
            </a:r>
          </a:p>
          <a:p>
            <a:r>
              <a:rPr lang="en-US" sz="1600" dirty="0"/>
              <a:t>DDDM is the process of making decisions based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Facts and evidence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Insights from structured and unstructured data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28DB0D-3896-36F9-1857-C092A8610D96}"/>
              </a:ext>
            </a:extLst>
          </p:cNvPr>
          <p:cNvSpPr/>
          <p:nvPr/>
        </p:nvSpPr>
        <p:spPr>
          <a:xfrm>
            <a:off x="5333999" y="3603812"/>
            <a:ext cx="2429436" cy="2061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Goal</a:t>
            </a:r>
          </a:p>
          <a:p>
            <a:pPr algn="ctr"/>
            <a:r>
              <a:rPr lang="en-US" sz="1400" dirty="0"/>
              <a:t>Replace guesswork and intuition with informed decision-making.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3D7A29-8AEA-9FCE-7643-416C358C776C}"/>
              </a:ext>
            </a:extLst>
          </p:cNvPr>
          <p:cNvSpPr/>
          <p:nvPr/>
        </p:nvSpPr>
        <p:spPr>
          <a:xfrm>
            <a:off x="8650940" y="3603812"/>
            <a:ext cx="2429436" cy="2061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Key Insight</a:t>
            </a:r>
          </a:p>
          <a:p>
            <a:r>
              <a:rPr lang="en-US" sz="1400" dirty="0"/>
              <a:t>Organizations using DDDM are </a:t>
            </a:r>
            <a:r>
              <a:rPr lang="en-US" sz="1400" b="1" dirty="0"/>
              <a:t>3 times more likely</a:t>
            </a:r>
            <a:r>
              <a:rPr lang="en-US" sz="1400" dirty="0"/>
              <a:t> to improve decision-making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4544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460B-1FC8-CB0A-4E0F-ACD7D5B3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3967DD-821B-F2D8-897E-F8CBFFE28A35}"/>
              </a:ext>
            </a:extLst>
          </p:cNvPr>
          <p:cNvSpPr/>
          <p:nvPr/>
        </p:nvSpPr>
        <p:spPr>
          <a:xfrm>
            <a:off x="2145552" y="1281953"/>
            <a:ext cx="6714565" cy="6813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DDDM vs Traditional Decision-Making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50DA08-951F-297C-ADCD-33E216063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325416"/>
              </p:ext>
            </p:extLst>
          </p:nvPr>
        </p:nvGraphicFramePr>
        <p:xfrm>
          <a:off x="1243105" y="2380626"/>
          <a:ext cx="8519460" cy="370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730">
                  <a:extLst>
                    <a:ext uri="{9D8B030D-6E8A-4147-A177-3AD203B41FA5}">
                      <a16:colId xmlns:a16="http://schemas.microsoft.com/office/drawing/2014/main" val="3306740284"/>
                    </a:ext>
                  </a:extLst>
                </a:gridCol>
                <a:gridCol w="4259730">
                  <a:extLst>
                    <a:ext uri="{9D8B030D-6E8A-4147-A177-3AD203B41FA5}">
                      <a16:colId xmlns:a16="http://schemas.microsoft.com/office/drawing/2014/main" val="2014669136"/>
                    </a:ext>
                  </a:extLst>
                </a:gridCol>
              </a:tblGrid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DDDM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65100"/>
                  </a:ext>
                </a:extLst>
              </a:tr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 data and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 intuition and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672951"/>
                  </a:ext>
                </a:extLst>
              </a:tr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subjective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569937"/>
                  </a:ext>
                </a:extLst>
              </a:tr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Predicts trends accurately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overlook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08981"/>
                  </a:ext>
                </a:extLst>
              </a:tr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analytics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Relies on human judgment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89624"/>
                  </a:ext>
                </a:extLst>
              </a:tr>
              <a:tr h="61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scalable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effective in big data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767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0878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28E0068-7D2E-5E72-895C-E088BB2F8D60}"/>
              </a:ext>
            </a:extLst>
          </p:cNvPr>
          <p:cNvSpPr/>
          <p:nvPr/>
        </p:nvSpPr>
        <p:spPr>
          <a:xfrm>
            <a:off x="950259" y="510988"/>
            <a:ext cx="3792070" cy="519953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Core Principles of DDDM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4360EF-F430-ED02-3229-9D5BD446E4BB}"/>
              </a:ext>
            </a:extLst>
          </p:cNvPr>
          <p:cNvSpPr/>
          <p:nvPr/>
        </p:nvSpPr>
        <p:spPr>
          <a:xfrm>
            <a:off x="950259" y="1030941"/>
            <a:ext cx="3523129" cy="16853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Main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Gather relevant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Ensure data quality and integrity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Analyze data for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insights for strategic decisions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E318CD8-3326-919B-B873-8E163B00ECEB}"/>
              </a:ext>
            </a:extLst>
          </p:cNvPr>
          <p:cNvSpPr/>
          <p:nvPr/>
        </p:nvSpPr>
        <p:spPr>
          <a:xfrm>
            <a:off x="950259" y="2909047"/>
            <a:ext cx="3792070" cy="519953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/>
                </a:solidFill>
              </a:rPr>
              <a:t>Benefits of DDDM</a:t>
            </a:r>
            <a:endParaRPr lang="en-IN" sz="2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56141-4846-DB33-9AAF-F0DA2CC57624}"/>
              </a:ext>
            </a:extLst>
          </p:cNvPr>
          <p:cNvSpPr/>
          <p:nvPr/>
        </p:nvSpPr>
        <p:spPr>
          <a:xfrm>
            <a:off x="950259" y="3428999"/>
            <a:ext cx="3523129" cy="16853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Reduced bias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adaptability to market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Improved risk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efficient resource allocation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CCBBB8-4EDB-8F88-7EFF-17B4B56AC14F}"/>
              </a:ext>
            </a:extLst>
          </p:cNvPr>
          <p:cNvSpPr/>
          <p:nvPr/>
        </p:nvSpPr>
        <p:spPr>
          <a:xfrm>
            <a:off x="950258" y="5235388"/>
            <a:ext cx="3523129" cy="146124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Business Impact</a:t>
            </a:r>
          </a:p>
          <a:p>
            <a:r>
              <a:rPr lang="en-US" dirty="0"/>
              <a:t>Helps organizations stay competitive and innovative.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F0A6E5-C32C-BB4C-68E5-3FC44CDB9644}"/>
              </a:ext>
            </a:extLst>
          </p:cNvPr>
          <p:cNvSpPr/>
          <p:nvPr/>
        </p:nvSpPr>
        <p:spPr>
          <a:xfrm>
            <a:off x="5827059" y="1703294"/>
            <a:ext cx="5298141" cy="423134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Challenges of DDDM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Poor data 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High implementation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Complexity of analytics tools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Need for skilled personnel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accessibility issues </a:t>
            </a:r>
          </a:p>
          <a:p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Successful DDDM requires proper technology and trained employees.</a:t>
            </a:r>
          </a:p>
        </p:txBody>
      </p:sp>
    </p:spTree>
    <p:extLst>
      <p:ext uri="{BB962C8B-B14F-4D97-AF65-F5344CB8AC3E}">
        <p14:creationId xmlns:p14="http://schemas.microsoft.com/office/powerpoint/2010/main" val="18216088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BC9042A-E95C-7209-53E7-49CE11B1B143}"/>
              </a:ext>
            </a:extLst>
          </p:cNvPr>
          <p:cNvSpPr/>
          <p:nvPr/>
        </p:nvSpPr>
        <p:spPr>
          <a:xfrm>
            <a:off x="1371600" y="331694"/>
            <a:ext cx="6624918" cy="62753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Essential Steps of DDDM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2478C-44F2-5E4E-5839-9688E53B6401}"/>
              </a:ext>
            </a:extLst>
          </p:cNvPr>
          <p:cNvSpPr/>
          <p:nvPr/>
        </p:nvSpPr>
        <p:spPr>
          <a:xfrm>
            <a:off x="6167719" y="1138516"/>
            <a:ext cx="1721223" cy="20977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Collect &amp; Analyze Data</a:t>
            </a:r>
          </a:p>
          <a:p>
            <a:r>
              <a:rPr lang="en-US"/>
              <a:t>Use tools to find insights.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644BE-5198-5AAB-8869-859DE1B74DFC}"/>
              </a:ext>
            </a:extLst>
          </p:cNvPr>
          <p:cNvSpPr/>
          <p:nvPr/>
        </p:nvSpPr>
        <p:spPr>
          <a:xfrm>
            <a:off x="8193742" y="1138516"/>
            <a:ext cx="1721223" cy="20977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Turn Insights into Action</a:t>
            </a:r>
          </a:p>
          <a:p>
            <a:r>
              <a:rPr lang="en-US"/>
              <a:t>Implement strategies based on findings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FEE86-684A-E781-083E-0D8A1277F74C}"/>
              </a:ext>
            </a:extLst>
          </p:cNvPr>
          <p:cNvSpPr/>
          <p:nvPr/>
        </p:nvSpPr>
        <p:spPr>
          <a:xfrm>
            <a:off x="89650" y="1138514"/>
            <a:ext cx="1721223" cy="20977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Determine Business Need</a:t>
            </a:r>
          </a:p>
          <a:p>
            <a:r>
              <a:rPr lang="en-US" dirty="0"/>
              <a:t>Identify problems or opportunities.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BEC62-939D-0DFE-6209-F0BFF5833FAD}"/>
              </a:ext>
            </a:extLst>
          </p:cNvPr>
          <p:cNvSpPr/>
          <p:nvPr/>
        </p:nvSpPr>
        <p:spPr>
          <a:xfrm>
            <a:off x="2115673" y="1138516"/>
            <a:ext cx="1721223" cy="20977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Identify Goals</a:t>
            </a:r>
          </a:p>
          <a:p>
            <a:r>
              <a:rPr lang="en-US" dirty="0"/>
              <a:t>Set measurable objectives.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53DDFC-8BA1-2185-DDF9-66E2A832D698}"/>
              </a:ext>
            </a:extLst>
          </p:cNvPr>
          <p:cNvSpPr/>
          <p:nvPr/>
        </p:nvSpPr>
        <p:spPr>
          <a:xfrm>
            <a:off x="4141696" y="1138516"/>
            <a:ext cx="1721223" cy="20977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Target Data</a:t>
            </a:r>
          </a:p>
          <a:p>
            <a:r>
              <a:rPr lang="en-IN" dirty="0"/>
              <a:t>Choose relevant data sources.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264160-457B-0C2A-1B7C-49EC18732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84471"/>
              </p:ext>
            </p:extLst>
          </p:nvPr>
        </p:nvGraphicFramePr>
        <p:xfrm>
          <a:off x="824753" y="4365814"/>
          <a:ext cx="8731624" cy="2393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5812">
                  <a:extLst>
                    <a:ext uri="{9D8B030D-6E8A-4147-A177-3AD203B41FA5}">
                      <a16:colId xmlns:a16="http://schemas.microsoft.com/office/drawing/2014/main" val="2519526442"/>
                    </a:ext>
                  </a:extLst>
                </a:gridCol>
                <a:gridCol w="4365812">
                  <a:extLst>
                    <a:ext uri="{9D8B030D-6E8A-4147-A177-3AD203B41FA5}">
                      <a16:colId xmlns:a16="http://schemas.microsoft.com/office/drawing/2014/main" val="1214813291"/>
                    </a:ext>
                  </a:extLst>
                </a:gridCol>
              </a:tblGrid>
              <a:tr h="478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010145"/>
                  </a:ext>
                </a:extLst>
              </a:tr>
              <a:tr h="478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Silos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19435"/>
                  </a:ext>
                </a:extLst>
              </a:tr>
              <a:tr h="478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Data Literacy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003757"/>
                  </a:ext>
                </a:extLst>
              </a:tr>
              <a:tr h="478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Resistance to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Pilot projects &amp;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002778"/>
                  </a:ext>
                </a:extLst>
              </a:tr>
              <a:tr h="478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 Showing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Quick wins &amp; success stories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368192"/>
                  </a:ext>
                </a:extLst>
              </a:tr>
            </a:tbl>
          </a:graphicData>
        </a:graphic>
      </p:graphicFrame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8588903-6055-FB2F-5379-AFBD0AF65CBA}"/>
              </a:ext>
            </a:extLst>
          </p:cNvPr>
          <p:cNvSpPr/>
          <p:nvPr/>
        </p:nvSpPr>
        <p:spPr>
          <a:xfrm>
            <a:off x="1568824" y="3541059"/>
            <a:ext cx="7046258" cy="62753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Organizational Challenges &amp; Solutions</a:t>
            </a:r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D9259C9F-A659-2180-941F-9F8CC4507B9C}"/>
              </a:ext>
            </a:extLst>
          </p:cNvPr>
          <p:cNvSpPr/>
          <p:nvPr/>
        </p:nvSpPr>
        <p:spPr>
          <a:xfrm>
            <a:off x="9914965" y="4567518"/>
            <a:ext cx="2277035" cy="1990165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Strong organizational support is essential for successful DDDM.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885201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92694781-33B3-4C86-9B84-CD0EC27C41C6}"/>
              </a:ext>
            </a:extLst>
          </p:cNvPr>
          <p:cNvSpPr/>
          <p:nvPr/>
        </p:nvSpPr>
        <p:spPr>
          <a:xfrm>
            <a:off x="815788" y="331694"/>
            <a:ext cx="5280212" cy="59167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Role of AI &amp; Technology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774E5-56AC-5802-F0C1-C6FDD1527FE4}"/>
              </a:ext>
            </a:extLst>
          </p:cNvPr>
          <p:cNvSpPr/>
          <p:nvPr/>
        </p:nvSpPr>
        <p:spPr>
          <a:xfrm>
            <a:off x="815788" y="1021976"/>
            <a:ext cx="3173505" cy="17750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AI and Machine Learning</a:t>
            </a:r>
          </a:p>
          <a:p>
            <a:r>
              <a:rPr lang="en-US" dirty="0"/>
              <a:t>AI helps businesses: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 large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Detect trends and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Predict outcomes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746AF-4562-4EB0-CA00-35D3912874FA}"/>
              </a:ext>
            </a:extLst>
          </p:cNvPr>
          <p:cNvSpPr/>
          <p:nvPr/>
        </p:nvSpPr>
        <p:spPr>
          <a:xfrm>
            <a:off x="815788" y="2796988"/>
            <a:ext cx="3173505" cy="13447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Popular AI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IBM Watson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Salesforce Einstein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Google Cloud 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4C70B-6BD5-59E0-ED1F-859A3713A64D}"/>
              </a:ext>
            </a:extLst>
          </p:cNvPr>
          <p:cNvSpPr/>
          <p:nvPr/>
        </p:nvSpPr>
        <p:spPr>
          <a:xfrm>
            <a:off x="815788" y="4141693"/>
            <a:ext cx="3173505" cy="19005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Future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Advanced data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Greater automation in decision-making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65FF18-411E-9001-E999-FD12C783CD97}"/>
              </a:ext>
            </a:extLst>
          </p:cNvPr>
          <p:cNvSpPr/>
          <p:nvPr/>
        </p:nvSpPr>
        <p:spPr>
          <a:xfrm>
            <a:off x="4742329" y="1021976"/>
            <a:ext cx="6553200" cy="528021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Companies Using DDDM Successfully</a:t>
            </a:r>
          </a:p>
          <a:p>
            <a:r>
              <a:rPr lang="en-IN" b="1" dirty="0">
                <a:ln>
                  <a:solidFill>
                    <a:sysClr val="windowText" lastClr="000000"/>
                  </a:solidFill>
                </a:ln>
              </a:rPr>
              <a:t>Google</a:t>
            </a:r>
          </a:p>
          <a:p>
            <a:r>
              <a:rPr lang="en-IN" dirty="0"/>
              <a:t>Improved HR decisions using analytics.</a:t>
            </a:r>
          </a:p>
          <a:p>
            <a:r>
              <a:rPr lang="en-IN" b="1" dirty="0">
                <a:ln>
                  <a:solidFill>
                    <a:sysClr val="windowText" lastClr="000000"/>
                  </a:solidFill>
                </a:ln>
              </a:rPr>
              <a:t>Netflix</a:t>
            </a:r>
          </a:p>
          <a:p>
            <a:r>
              <a:rPr lang="en-IN" dirty="0"/>
              <a:t>Uses personalized recommendations to improve customer engagement.</a:t>
            </a:r>
          </a:p>
          <a:p>
            <a:r>
              <a:rPr lang="en-IN" b="1" dirty="0">
                <a:ln>
                  <a:solidFill>
                    <a:sysClr val="windowText" lastClr="000000"/>
                  </a:solidFill>
                </a:ln>
              </a:rPr>
              <a:t>Coca-Cola</a:t>
            </a:r>
          </a:p>
          <a:p>
            <a:r>
              <a:rPr lang="en-IN" dirty="0"/>
              <a:t>Uses AI for targeted marketing and product strategies.</a:t>
            </a:r>
          </a:p>
          <a:p>
            <a:r>
              <a:rPr lang="en-IN" b="1" dirty="0">
                <a:ln>
                  <a:solidFill>
                    <a:sysClr val="windowText" lastClr="000000"/>
                  </a:solidFill>
                </a:ln>
              </a:rPr>
              <a:t>Airbnb</a:t>
            </a:r>
          </a:p>
          <a:p>
            <a:r>
              <a:rPr lang="en-IN" dirty="0"/>
              <a:t>Uses dynamic pricing based on analytics.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F78D7A-369E-DDFF-4DCE-E8F758F73756}"/>
              </a:ext>
            </a:extLst>
          </p:cNvPr>
          <p:cNvSpPr/>
          <p:nvPr/>
        </p:nvSpPr>
        <p:spPr>
          <a:xfrm>
            <a:off x="9076764" y="4863352"/>
            <a:ext cx="2299448" cy="1878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Data-driven strategies improve profitability and customer satisfaction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20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F78E7756-471F-4D61-1B39-A044894A1CF0}"/>
              </a:ext>
            </a:extLst>
          </p:cNvPr>
          <p:cNvSpPr/>
          <p:nvPr/>
        </p:nvSpPr>
        <p:spPr>
          <a:xfrm>
            <a:off x="636494" y="259976"/>
            <a:ext cx="5459506" cy="54684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Why Companies are Adopting DDDM ?</a:t>
            </a:r>
            <a:endParaRPr lang="en-IN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95CB5-F7B9-5348-7275-52CDA96CC8CA}"/>
              </a:ext>
            </a:extLst>
          </p:cNvPr>
          <p:cNvSpPr/>
          <p:nvPr/>
        </p:nvSpPr>
        <p:spPr>
          <a:xfrm>
            <a:off x="636494" y="806824"/>
            <a:ext cx="5172635" cy="16315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Important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53% of enterprises are planning data-driven projects.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78% believe data analysis will transform business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71% expect new revenue opportunities through data analytics.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71F07D0D-804A-11BB-EE02-0F31317FE454}"/>
              </a:ext>
            </a:extLst>
          </p:cNvPr>
          <p:cNvSpPr/>
          <p:nvPr/>
        </p:nvSpPr>
        <p:spPr>
          <a:xfrm>
            <a:off x="6320116" y="806824"/>
            <a:ext cx="3056965" cy="150607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Companies now treat data as a strategic business asset.</a:t>
            </a:r>
            <a:endParaRPr lang="en-IN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C09EEC2-A834-F862-E820-BD0892F1EDB5}"/>
              </a:ext>
            </a:extLst>
          </p:cNvPr>
          <p:cNvSpPr/>
          <p:nvPr/>
        </p:nvSpPr>
        <p:spPr>
          <a:xfrm>
            <a:off x="636494" y="2859741"/>
            <a:ext cx="6490447" cy="56925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DDDM vs Gut-Based Decisions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F90798-F048-8B8D-8B71-B75EAEFFC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90935"/>
              </p:ext>
            </p:extLst>
          </p:nvPr>
        </p:nvGraphicFramePr>
        <p:xfrm>
          <a:off x="636494" y="367801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587410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6962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Data-Driven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Gut-Based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4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Based on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Based on intuition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15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5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Measurable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to evaluate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78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consistent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Influenced by emotions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19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long-term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May ignore hidden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858555"/>
                  </a:ext>
                </a:extLst>
              </a:tr>
            </a:tbl>
          </a:graphicData>
        </a:graphic>
      </p:graphicFrame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2E33A03F-1D8F-438C-A5EF-103C58B03557}"/>
              </a:ext>
            </a:extLst>
          </p:cNvPr>
          <p:cNvSpPr/>
          <p:nvPr/>
        </p:nvSpPr>
        <p:spPr>
          <a:xfrm>
            <a:off x="8964706" y="3532094"/>
            <a:ext cx="2447365" cy="2225040"/>
          </a:xfrm>
          <a:prstGeom prst="leftArrowCallou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DDDM minimizes emotional and biased decision-making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2397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BA0A1BAE-B691-5CD3-049C-55C6CCD88083}"/>
              </a:ext>
            </a:extLst>
          </p:cNvPr>
          <p:cNvSpPr/>
          <p:nvPr/>
        </p:nvSpPr>
        <p:spPr>
          <a:xfrm>
            <a:off x="367553" y="304800"/>
            <a:ext cx="4894729" cy="56477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Qualitative vs Quantitative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80EFA-0588-8102-7AFB-4F3603F3E6DE}"/>
              </a:ext>
            </a:extLst>
          </p:cNvPr>
          <p:cNvSpPr/>
          <p:nvPr/>
        </p:nvSpPr>
        <p:spPr>
          <a:xfrm>
            <a:off x="367553" y="995084"/>
            <a:ext cx="2868706" cy="168628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Qualitative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Opinions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Interviews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8958F3-2561-7A3E-F701-6793DC166B10}"/>
              </a:ext>
            </a:extLst>
          </p:cNvPr>
          <p:cNvSpPr/>
          <p:nvPr/>
        </p:nvSpPr>
        <p:spPr>
          <a:xfrm>
            <a:off x="3496235" y="995083"/>
            <a:ext cx="2868706" cy="168628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Quantitative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numbers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Website traffic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 margins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rates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21AA2-E5D4-C538-0E05-2E255EA32528}"/>
              </a:ext>
            </a:extLst>
          </p:cNvPr>
          <p:cNvSpPr txBox="1"/>
          <p:nvPr/>
        </p:nvSpPr>
        <p:spPr>
          <a:xfrm>
            <a:off x="3048000" y="2681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A5C880-ABC4-49D7-53EF-0B1795F382A2}"/>
              </a:ext>
            </a:extLst>
          </p:cNvPr>
          <p:cNvSpPr/>
          <p:nvPr/>
        </p:nvSpPr>
        <p:spPr>
          <a:xfrm>
            <a:off x="6929720" y="793838"/>
            <a:ext cx="2716306" cy="196327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Businesses need both types of data for balanced decisions.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EF1D490-0C61-6A84-D9D9-F835F9399245}"/>
              </a:ext>
            </a:extLst>
          </p:cNvPr>
          <p:cNvSpPr/>
          <p:nvPr/>
        </p:nvSpPr>
        <p:spPr>
          <a:xfrm>
            <a:off x="367553" y="2850811"/>
            <a:ext cx="7261413" cy="6006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Importance of Multiple Data 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A4A46A-2D63-09E0-9A20-0DC74612E08A}"/>
              </a:ext>
            </a:extLst>
          </p:cNvPr>
          <p:cNvSpPr/>
          <p:nvPr/>
        </p:nvSpPr>
        <p:spPr>
          <a:xfrm>
            <a:off x="367553" y="3620885"/>
            <a:ext cx="2868706" cy="16584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Why Multiple Sources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Gives a complete business picture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errors and bias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reliability of insights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0C39F-89F1-D870-A417-65492EFA3F52}"/>
              </a:ext>
            </a:extLst>
          </p:cNvPr>
          <p:cNvSpPr/>
          <p:nvPr/>
        </p:nvSpPr>
        <p:spPr>
          <a:xfrm>
            <a:off x="3496235" y="3639671"/>
            <a:ext cx="2868706" cy="165847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Examples of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Internal sales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Social media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surveys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Market research reports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7FD418-761E-A58F-55D7-B4DCD1345C6B}"/>
              </a:ext>
            </a:extLst>
          </p:cNvPr>
          <p:cNvSpPr/>
          <p:nvPr/>
        </p:nvSpPr>
        <p:spPr>
          <a:xfrm>
            <a:off x="7239001" y="3334870"/>
            <a:ext cx="2510117" cy="196327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Using only one data source can lead to incomplete conclusions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619727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BBECB25-056C-279B-7554-C25A1EA5E83A}"/>
              </a:ext>
            </a:extLst>
          </p:cNvPr>
          <p:cNvSpPr/>
          <p:nvPr/>
        </p:nvSpPr>
        <p:spPr>
          <a:xfrm>
            <a:off x="654425" y="251012"/>
            <a:ext cx="4858870" cy="67235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Role of Data Culture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E0EF7-0F15-3DFD-8752-F56A652AD0D2}"/>
              </a:ext>
            </a:extLst>
          </p:cNvPr>
          <p:cNvSpPr/>
          <p:nvPr/>
        </p:nvSpPr>
        <p:spPr>
          <a:xfrm>
            <a:off x="654425" y="995083"/>
            <a:ext cx="4500281" cy="39892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What is Data Culture?</a:t>
            </a:r>
          </a:p>
          <a:p>
            <a:r>
              <a:rPr lang="en-US" dirty="0"/>
              <a:t>A workplace environment where employees: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analytics regularly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evidence-based decisions </a:t>
            </a:r>
          </a:p>
          <a:p>
            <a:r>
              <a:rPr lang="en-US" b="1" dirty="0">
                <a:solidFill>
                  <a:schemeClr val="bg1"/>
                </a:solidFill>
              </a:rPr>
              <a:t>How to Build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employees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insights openly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 analytical thinking </a:t>
            </a:r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Technology alone cannot create a data-driven company.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BB640C-CDBF-6B6A-406A-6D05E930DBDE}"/>
              </a:ext>
            </a:extLst>
          </p:cNvPr>
          <p:cNvSpPr/>
          <p:nvPr/>
        </p:nvSpPr>
        <p:spPr>
          <a:xfrm>
            <a:off x="5513295" y="1918448"/>
            <a:ext cx="5351930" cy="428512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Challenges Businesses 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Poor-quality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skilled analysts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overload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Resistance to 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implementation costs </a:t>
            </a:r>
          </a:p>
          <a:p>
            <a:endParaRPr lang="en-US" dirty="0"/>
          </a:p>
          <a:p>
            <a:r>
              <a:rPr lang="en-US" b="1" dirty="0"/>
              <a:t>Solution</a:t>
            </a:r>
          </a:p>
          <a:p>
            <a:r>
              <a:rPr lang="en-US" dirty="0"/>
              <a:t>Organizations need proper tools, training, and governance.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41506B9-A7D7-DCD9-A7E0-59D7B01F429B}"/>
              </a:ext>
            </a:extLst>
          </p:cNvPr>
          <p:cNvSpPr/>
          <p:nvPr/>
        </p:nvSpPr>
        <p:spPr>
          <a:xfrm>
            <a:off x="6096000" y="2034988"/>
            <a:ext cx="4150659" cy="5737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Common Problems in DDDM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FF183-3532-D2F5-7C34-B3033D936B56}"/>
              </a:ext>
            </a:extLst>
          </p:cNvPr>
          <p:cNvSpPr/>
          <p:nvPr/>
        </p:nvSpPr>
        <p:spPr>
          <a:xfrm>
            <a:off x="1039906" y="5387788"/>
            <a:ext cx="3657600" cy="1281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Without analysis, data is just numbers; with analysis, it becomes strategy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4346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81B97E4-48A5-ED36-5758-DCEFCBD82D93}"/>
              </a:ext>
            </a:extLst>
          </p:cNvPr>
          <p:cNvSpPr/>
          <p:nvPr/>
        </p:nvSpPr>
        <p:spPr>
          <a:xfrm>
            <a:off x="842682" y="295835"/>
            <a:ext cx="8238565" cy="63649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Essentials for Implementing Data-Driven Decision Making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4BE24-5B23-95E1-C4D2-520FA8996E65}"/>
              </a:ext>
            </a:extLst>
          </p:cNvPr>
          <p:cNvSpPr/>
          <p:nvPr/>
        </p:nvSpPr>
        <p:spPr>
          <a:xfrm>
            <a:off x="403412" y="1057835"/>
            <a:ext cx="3711388" cy="560294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Step 1 – Determine Business Questions</a:t>
            </a:r>
          </a:p>
          <a:p>
            <a:r>
              <a:rPr lang="en-US" b="1"/>
              <a:t>Start by Identifying:</a:t>
            </a:r>
          </a:p>
          <a:p>
            <a:r>
              <a:rPr lang="en-US"/>
              <a:t>Business problems </a:t>
            </a:r>
          </a:p>
          <a:p>
            <a:r>
              <a:rPr lang="en-US"/>
              <a:t>Opportunities for growth </a:t>
            </a:r>
          </a:p>
          <a:p>
            <a:r>
              <a:rPr lang="en-US"/>
              <a:t>Strategic priorities </a:t>
            </a:r>
          </a:p>
          <a:p>
            <a:r>
              <a:rPr lang="en-US" b="1"/>
              <a:t>Questions to Ask</a:t>
            </a:r>
          </a:p>
          <a:p>
            <a:r>
              <a:rPr lang="en-US"/>
              <a:t>What does the company want to achieve? </a:t>
            </a:r>
          </a:p>
          <a:p>
            <a:r>
              <a:rPr lang="en-US"/>
              <a:t>Which areas need improvement? </a:t>
            </a:r>
          </a:p>
          <a:p>
            <a:r>
              <a:rPr lang="en-US"/>
              <a:t>What business problem needs solving? </a:t>
            </a:r>
          </a:p>
          <a:p>
            <a:r>
              <a:rPr lang="en-US" b="1"/>
              <a:t>Goal</a:t>
            </a:r>
          </a:p>
          <a:p>
            <a:r>
              <a:rPr lang="en-US"/>
              <a:t>Create clear objectives before collecting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9D153-6798-EB8C-0A0A-8EBD2F4572D8}"/>
              </a:ext>
            </a:extLst>
          </p:cNvPr>
          <p:cNvSpPr/>
          <p:nvPr/>
        </p:nvSpPr>
        <p:spPr>
          <a:xfrm>
            <a:off x="4482353" y="1057835"/>
            <a:ext cx="3711388" cy="560294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Step 2 – Strategize &amp; Identify Goals</a:t>
            </a:r>
          </a:p>
          <a:p>
            <a:r>
              <a:rPr lang="en-US" b="1" dirty="0"/>
              <a:t>Build an Analytical Plan</a:t>
            </a:r>
          </a:p>
          <a:p>
            <a:r>
              <a:rPr lang="en-US" dirty="0"/>
              <a:t>Define measurable objectives </a:t>
            </a:r>
          </a:p>
          <a:p>
            <a:r>
              <a:rPr lang="en-US" dirty="0"/>
              <a:t>Assign responsibilities </a:t>
            </a:r>
          </a:p>
          <a:p>
            <a:r>
              <a:rPr lang="en-US" dirty="0"/>
              <a:t>Decide project success indicators </a:t>
            </a:r>
          </a:p>
          <a:p>
            <a:r>
              <a:rPr lang="en-US" b="1" dirty="0"/>
              <a:t>Important Questions</a:t>
            </a:r>
          </a:p>
          <a:p>
            <a:r>
              <a:rPr lang="en-US" dirty="0"/>
              <a:t>What can realistically be achieved? </a:t>
            </a:r>
          </a:p>
          <a:p>
            <a:r>
              <a:rPr lang="en-US" dirty="0"/>
              <a:t>Who will manage the project? </a:t>
            </a:r>
          </a:p>
          <a:p>
            <a:r>
              <a:rPr lang="en-US" dirty="0"/>
              <a:t>How will success be measured? </a:t>
            </a:r>
          </a:p>
          <a:p>
            <a:r>
              <a:rPr lang="en-US" b="1" dirty="0"/>
              <a:t>Key Insight</a:t>
            </a:r>
          </a:p>
          <a:p>
            <a:r>
              <a:rPr lang="en-US" dirty="0"/>
              <a:t>Clear goals improve decision accuracy.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C63817-8FF5-3742-D4D6-2CAEF2F42007}"/>
              </a:ext>
            </a:extLst>
          </p:cNvPr>
          <p:cNvSpPr/>
          <p:nvPr/>
        </p:nvSpPr>
        <p:spPr>
          <a:xfrm>
            <a:off x="8453718" y="1515035"/>
            <a:ext cx="3415553" cy="50471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Step 3 – Target Data</a:t>
            </a:r>
          </a:p>
          <a:p>
            <a:r>
              <a:rPr lang="en-US" b="1"/>
              <a:t>Identify the Most Useful Data</a:t>
            </a:r>
          </a:p>
          <a:p>
            <a:r>
              <a:rPr lang="en-US" b="1"/>
              <a:t>Types of Data</a:t>
            </a:r>
          </a:p>
          <a:p>
            <a:r>
              <a:rPr lang="en-US" b="1"/>
              <a:t>Qualitative Data</a:t>
            </a:r>
          </a:p>
          <a:p>
            <a:r>
              <a:rPr lang="en-US"/>
              <a:t>Reviews </a:t>
            </a:r>
          </a:p>
          <a:p>
            <a:r>
              <a:rPr lang="en-US"/>
              <a:t>Feedback </a:t>
            </a:r>
          </a:p>
          <a:p>
            <a:r>
              <a:rPr lang="en-US"/>
              <a:t>Interviews </a:t>
            </a:r>
          </a:p>
          <a:p>
            <a:r>
              <a:rPr lang="en-US" b="1"/>
              <a:t>Quantitative Data</a:t>
            </a:r>
          </a:p>
          <a:p>
            <a:r>
              <a:rPr lang="en-US"/>
              <a:t>Sales figures </a:t>
            </a:r>
          </a:p>
          <a:p>
            <a:r>
              <a:rPr lang="en-US"/>
              <a:t>Website traffic </a:t>
            </a:r>
          </a:p>
          <a:p>
            <a:r>
              <a:rPr lang="en-US"/>
              <a:t>Revenue reports </a:t>
            </a:r>
          </a:p>
          <a:p>
            <a:r>
              <a:rPr lang="en-US" b="1"/>
              <a:t>Important Point</a:t>
            </a:r>
          </a:p>
          <a:p>
            <a:r>
              <a:rPr lang="en-US"/>
              <a:t>Choosing the right data is more important than collecting large amounts of data.</a:t>
            </a:r>
          </a:p>
        </p:txBody>
      </p:sp>
    </p:spTree>
    <p:extLst>
      <p:ext uri="{BB962C8B-B14F-4D97-AF65-F5344CB8AC3E}">
        <p14:creationId xmlns:p14="http://schemas.microsoft.com/office/powerpoint/2010/main" val="42080051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3A10D-C888-EEDD-A8DE-DB9D49C71422}"/>
              </a:ext>
            </a:extLst>
          </p:cNvPr>
          <p:cNvSpPr/>
          <p:nvPr/>
        </p:nvSpPr>
        <p:spPr>
          <a:xfrm>
            <a:off x="215153" y="340659"/>
            <a:ext cx="3657600" cy="62573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Step 4 – Collect &amp; Analyse Data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Data Collection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Internal company 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Social media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Online tools and 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Purchased datasets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Data Analysis</a:t>
            </a:r>
          </a:p>
          <a:p>
            <a:pPr>
              <a:buNone/>
            </a:pPr>
            <a:r>
              <a:rPr lang="en-IN" dirty="0"/>
              <a:t>Analyse data to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behaviour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Business opportunities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Key Insight</a:t>
            </a:r>
          </a:p>
          <a:p>
            <a:pPr>
              <a:buNone/>
            </a:pPr>
            <a:r>
              <a:rPr lang="en-IN" dirty="0"/>
              <a:t>Analytics tools help convert raw data into insights.</a:t>
            </a:r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EE167-A876-2B95-15BB-900398D8F1ED}"/>
              </a:ext>
            </a:extLst>
          </p:cNvPr>
          <p:cNvSpPr/>
          <p:nvPr/>
        </p:nvSpPr>
        <p:spPr>
          <a:xfrm>
            <a:off x="4141694" y="1653988"/>
            <a:ext cx="3774141" cy="36307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Step 5 – Make Decisions</a:t>
            </a:r>
          </a:p>
          <a:p>
            <a:r>
              <a:rPr lang="en-US" b="1"/>
              <a:t>Use Insights to Take Action</a:t>
            </a:r>
          </a:p>
          <a:p>
            <a:r>
              <a:rPr lang="en-US"/>
              <a:t>Leaders use analytics to:</a:t>
            </a:r>
          </a:p>
          <a:p>
            <a:r>
              <a:rPr lang="en-US"/>
              <a:t>Improve business strategies </a:t>
            </a:r>
          </a:p>
          <a:p>
            <a:r>
              <a:rPr lang="en-US"/>
              <a:t>Solve operational problems </a:t>
            </a:r>
          </a:p>
          <a:p>
            <a:r>
              <a:rPr lang="en-US"/>
              <a:t>Increase efficiency </a:t>
            </a:r>
          </a:p>
          <a:p>
            <a:r>
              <a:rPr lang="en-US"/>
              <a:t>Enhance customer experience </a:t>
            </a:r>
          </a:p>
          <a:p>
            <a:r>
              <a:rPr lang="en-US" b="1"/>
              <a:t>Important Point</a:t>
            </a:r>
          </a:p>
          <a:p>
            <a:r>
              <a:rPr lang="en-US"/>
              <a:t>Data must be translated into actionable business strategies.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F2413-2ABC-A04B-A4B7-E16B8423EAC6}"/>
              </a:ext>
            </a:extLst>
          </p:cNvPr>
          <p:cNvSpPr txBox="1"/>
          <p:nvPr/>
        </p:nvSpPr>
        <p:spPr>
          <a:xfrm>
            <a:off x="3048000" y="13631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D385AC-5200-E68C-B7DC-C26B7ED9BD18}"/>
              </a:ext>
            </a:extLst>
          </p:cNvPr>
          <p:cNvSpPr/>
          <p:nvPr/>
        </p:nvSpPr>
        <p:spPr>
          <a:xfrm>
            <a:off x="8184777" y="2043952"/>
            <a:ext cx="3603812" cy="4428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Real Business Examples</a:t>
            </a:r>
          </a:p>
          <a:p>
            <a:pPr algn="ctr"/>
            <a:r>
              <a:rPr lang="en-US" b="1" dirty="0"/>
              <a:t>Lufthansa</a:t>
            </a:r>
          </a:p>
          <a:p>
            <a:pPr algn="ctr"/>
            <a:r>
              <a:rPr lang="en-US" sz="1200" dirty="0"/>
              <a:t>Centralized data systems </a:t>
            </a:r>
          </a:p>
          <a:p>
            <a:pPr algn="ctr"/>
            <a:r>
              <a:rPr lang="en-US" sz="1200" dirty="0"/>
              <a:t>Improved efficiency by 30% </a:t>
            </a:r>
          </a:p>
          <a:p>
            <a:pPr algn="ctr"/>
            <a:r>
              <a:rPr lang="en-US" b="1" dirty="0"/>
              <a:t>Nike</a:t>
            </a:r>
          </a:p>
          <a:p>
            <a:pPr algn="ctr"/>
            <a:r>
              <a:rPr lang="en-US" sz="1200" dirty="0"/>
              <a:t>Used data analytics to:</a:t>
            </a:r>
          </a:p>
          <a:p>
            <a:pPr algn="ctr"/>
            <a:r>
              <a:rPr lang="en-US" sz="1200" dirty="0"/>
              <a:t>Improve supply chain efficiency </a:t>
            </a:r>
          </a:p>
          <a:p>
            <a:pPr algn="ctr"/>
            <a:r>
              <a:rPr lang="en-US" sz="1200" dirty="0"/>
              <a:t>Reduce costs </a:t>
            </a:r>
          </a:p>
          <a:p>
            <a:pPr algn="ctr"/>
            <a:r>
              <a:rPr lang="en-US" sz="1200" dirty="0"/>
              <a:t>Speed up delivery times </a:t>
            </a:r>
          </a:p>
          <a:p>
            <a:pPr algn="ctr"/>
            <a:r>
              <a:rPr lang="en-US" b="1" dirty="0"/>
              <a:t>Key Insight</a:t>
            </a:r>
          </a:p>
          <a:p>
            <a:pPr algn="ctr"/>
            <a:r>
              <a:rPr lang="en-US" dirty="0"/>
              <a:t>DDDM creates measurable business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3475845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3BB6A08-74D0-EC21-641D-17B597E2AD56}"/>
              </a:ext>
            </a:extLst>
          </p:cNvPr>
          <p:cNvSpPr/>
          <p:nvPr/>
        </p:nvSpPr>
        <p:spPr>
          <a:xfrm>
            <a:off x="376518" y="361047"/>
            <a:ext cx="5827059" cy="65442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Careers Using DDDM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01467-4D4E-D5C9-DAF4-295156E92AB6}"/>
              </a:ext>
            </a:extLst>
          </p:cNvPr>
          <p:cNvSpPr/>
          <p:nvPr/>
        </p:nvSpPr>
        <p:spPr>
          <a:xfrm>
            <a:off x="376518" y="1255059"/>
            <a:ext cx="2061882" cy="1362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2000" b="1" dirty="0"/>
              <a:t>Data Analyst</a:t>
            </a:r>
          </a:p>
          <a:p>
            <a:pPr algn="ctr">
              <a:buNone/>
            </a:pPr>
            <a:r>
              <a:rPr lang="en-IN" dirty="0"/>
              <a:t>Analyses and visualizes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241C6-0935-0D83-A63C-BDB61376B086}"/>
              </a:ext>
            </a:extLst>
          </p:cNvPr>
          <p:cNvSpPr/>
          <p:nvPr/>
        </p:nvSpPr>
        <p:spPr>
          <a:xfrm>
            <a:off x="7082118" y="1255059"/>
            <a:ext cx="2061882" cy="1362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Data Scientist</a:t>
            </a:r>
          </a:p>
          <a:p>
            <a:r>
              <a:rPr lang="en-US"/>
              <a:t>Finds trends and provides strategic 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9E5E1-0D9D-E6B8-E144-90B9275194ED}"/>
              </a:ext>
            </a:extLst>
          </p:cNvPr>
          <p:cNvSpPr/>
          <p:nvPr/>
        </p:nvSpPr>
        <p:spPr>
          <a:xfrm>
            <a:off x="9287436" y="1250576"/>
            <a:ext cx="2061882" cy="1362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Business Analyst</a:t>
            </a:r>
          </a:p>
          <a:p>
            <a:r>
              <a:rPr lang="en-US"/>
              <a:t>Uses data to improve company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EAA5A5-9445-F31F-1E53-C85076B5E326}"/>
              </a:ext>
            </a:extLst>
          </p:cNvPr>
          <p:cNvSpPr/>
          <p:nvPr/>
        </p:nvSpPr>
        <p:spPr>
          <a:xfrm>
            <a:off x="2626659" y="1255059"/>
            <a:ext cx="2061882" cy="1362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Data Engineer</a:t>
            </a:r>
          </a:p>
          <a:p>
            <a:r>
              <a:rPr lang="en-US" dirty="0"/>
              <a:t>Builds systems for data collection.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DCA34-FB5D-75B8-D1BA-09EB4C8273C5}"/>
              </a:ext>
            </a:extLst>
          </p:cNvPr>
          <p:cNvSpPr/>
          <p:nvPr/>
        </p:nvSpPr>
        <p:spPr>
          <a:xfrm>
            <a:off x="4876800" y="1255059"/>
            <a:ext cx="2061882" cy="1362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Database Administrator</a:t>
            </a:r>
          </a:p>
          <a:p>
            <a:r>
              <a:rPr lang="en-US" dirty="0"/>
              <a:t>Manages and secures databases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FD91C-2161-090C-7783-954E936D91A2}"/>
              </a:ext>
            </a:extLst>
          </p:cNvPr>
          <p:cNvSpPr txBox="1"/>
          <p:nvPr/>
        </p:nvSpPr>
        <p:spPr>
          <a:xfrm>
            <a:off x="3048000" y="3096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096DA57-7898-764F-A9A9-B34698CEDA7E}"/>
              </a:ext>
            </a:extLst>
          </p:cNvPr>
          <p:cNvSpPr/>
          <p:nvPr/>
        </p:nvSpPr>
        <p:spPr>
          <a:xfrm>
            <a:off x="502024" y="4240307"/>
            <a:ext cx="6096000" cy="52577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Skills Needed for DDDM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53817-6EA7-3D64-7943-FAE78900F7AE}"/>
              </a:ext>
            </a:extLst>
          </p:cNvPr>
          <p:cNvSpPr/>
          <p:nvPr/>
        </p:nvSpPr>
        <p:spPr>
          <a:xfrm>
            <a:off x="502024" y="5093978"/>
            <a:ext cx="5827058" cy="14029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numCol="2"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 analysis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Critical thinking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Problem-solving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 visualization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Statistical knowledge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Communication skills </a:t>
            </a:r>
          </a:p>
          <a:p>
            <a:pPr algn="ctr"/>
            <a:endParaRPr lang="en-IN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326906A-E813-40AD-8568-9357659C3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976790-3E07-1D3F-5402-67CCE0C933B0}"/>
              </a:ext>
            </a:extLst>
          </p:cNvPr>
          <p:cNvSpPr/>
          <p:nvPr/>
        </p:nvSpPr>
        <p:spPr>
          <a:xfrm>
            <a:off x="7790329" y="3096870"/>
            <a:ext cx="4123765" cy="347425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DDDM helps businesses make smarter decisions.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improves efficiency, profits, and customer satisfaction.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DDDM follows a step-by-step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Skilled professionals are needed to turn data into strategy.</a:t>
            </a:r>
          </a:p>
        </p:txBody>
      </p:sp>
    </p:spTree>
    <p:extLst>
      <p:ext uri="{BB962C8B-B14F-4D97-AF65-F5344CB8AC3E}">
        <p14:creationId xmlns:p14="http://schemas.microsoft.com/office/powerpoint/2010/main" val="38675412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E51E81-3ACA-1A56-0518-7844AC204386}"/>
              </a:ext>
            </a:extLst>
          </p:cNvPr>
          <p:cNvSpPr/>
          <p:nvPr/>
        </p:nvSpPr>
        <p:spPr>
          <a:xfrm>
            <a:off x="744071" y="2259106"/>
            <a:ext cx="3881717" cy="450924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Pitfalls in Data-Driven Decision Making (DDDM)</a:t>
            </a:r>
          </a:p>
          <a:p>
            <a:endParaRPr lang="en-US" b="1" dirty="0"/>
          </a:p>
          <a:p>
            <a:r>
              <a:rPr lang="en-US" b="1" dirty="0"/>
              <a:t>Common Failures in DDDM: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Bad or unreliable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data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Flawed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 communication of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Misinterpretation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Wrong managerial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Faulty execution of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learning from outcomes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12F3BF3-61B2-CF37-5722-50916E4F4826}"/>
              </a:ext>
            </a:extLst>
          </p:cNvPr>
          <p:cNvSpPr/>
          <p:nvPr/>
        </p:nvSpPr>
        <p:spPr>
          <a:xfrm>
            <a:off x="1264024" y="259976"/>
            <a:ext cx="2465294" cy="1658471"/>
          </a:xfrm>
          <a:prstGeom prst="wedgeRoundRect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 good data can lead to failure if analysis, communication, or execution is weak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E6538A1-CA49-6444-C721-23D630325ED0}"/>
              </a:ext>
            </a:extLst>
          </p:cNvPr>
          <p:cNvSpPr/>
          <p:nvPr/>
        </p:nvSpPr>
        <p:spPr>
          <a:xfrm>
            <a:off x="5109882" y="3738283"/>
            <a:ext cx="1972236" cy="968188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E4F09-218D-D41B-8328-DA4B816CCEBF}"/>
              </a:ext>
            </a:extLst>
          </p:cNvPr>
          <p:cNvSpPr/>
          <p:nvPr/>
        </p:nvSpPr>
        <p:spPr>
          <a:xfrm>
            <a:off x="7261412" y="2357718"/>
            <a:ext cx="3594847" cy="402515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Importance of Avoiding DDDM Pitfalls</a:t>
            </a:r>
          </a:p>
          <a:p>
            <a:r>
              <a:rPr lang="en-US" b="1" dirty="0"/>
              <a:t>Why It Matters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Improves accuracy of business decisions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Reduces financial and operational risks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Strengthens data culture in organizations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Enhances strategic planning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Helps organizations learn and improve continuously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sz="1400" dirty="0"/>
              <a:t>Incorrect analysis in railcar leasing caused millions in losses despite having quality data.</a:t>
            </a:r>
          </a:p>
        </p:txBody>
      </p:sp>
    </p:spTree>
    <p:extLst>
      <p:ext uri="{BB962C8B-B14F-4D97-AF65-F5344CB8AC3E}">
        <p14:creationId xmlns:p14="http://schemas.microsoft.com/office/powerpoint/2010/main" val="23629799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4D3E20-08F3-1E95-AC0C-FA2B66D6FFBC}"/>
              </a:ext>
            </a:extLst>
          </p:cNvPr>
          <p:cNvSpPr/>
          <p:nvPr/>
        </p:nvSpPr>
        <p:spPr>
          <a:xfrm>
            <a:off x="1497106" y="3962400"/>
            <a:ext cx="6974541" cy="2232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high-quality and relevant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employees in analytics &amp; data literacy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 collaboration between business &amp; data teams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clear data storytelling and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execution using performance metrics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outcomes for continuous improvement 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FE10BD1-788A-FD21-1C23-BC1AF7D477F1}"/>
              </a:ext>
            </a:extLst>
          </p:cNvPr>
          <p:cNvSpPr/>
          <p:nvPr/>
        </p:nvSpPr>
        <p:spPr>
          <a:xfrm>
            <a:off x="1541929" y="2886635"/>
            <a:ext cx="6131859" cy="672353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Best Practices to Improve DDDM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68936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674770E-71A5-D761-C018-4F18F8C0DC7A}"/>
              </a:ext>
            </a:extLst>
          </p:cNvPr>
          <p:cNvSpPr/>
          <p:nvPr/>
        </p:nvSpPr>
        <p:spPr>
          <a:xfrm>
            <a:off x="466165" y="277906"/>
            <a:ext cx="5513294" cy="5289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Scenario Analysis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FD0B7FD-8029-E89E-1C8D-DACDBC3BD528}"/>
              </a:ext>
            </a:extLst>
          </p:cNvPr>
          <p:cNvSpPr/>
          <p:nvPr/>
        </p:nvSpPr>
        <p:spPr>
          <a:xfrm>
            <a:off x="466165" y="995082"/>
            <a:ext cx="7368988" cy="5289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Understanding Risk, Forecasting &amp; Strategic Decision-Making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F4E346-F8DE-67D2-3FCC-2E191AFAE458}"/>
              </a:ext>
            </a:extLst>
          </p:cNvPr>
          <p:cNvSpPr/>
          <p:nvPr/>
        </p:nvSpPr>
        <p:spPr>
          <a:xfrm>
            <a:off x="466165" y="1649506"/>
            <a:ext cx="4419600" cy="33079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What is Scenario Analysis?</a:t>
            </a:r>
          </a:p>
          <a:p>
            <a:endParaRPr lang="en-US" sz="2000" b="1" dirty="0"/>
          </a:p>
          <a:p>
            <a:r>
              <a:rPr lang="en-US" b="1" dirty="0"/>
              <a:t>Definition</a:t>
            </a:r>
          </a:p>
          <a:p>
            <a:r>
              <a:rPr lang="en-US" sz="1400" dirty="0"/>
              <a:t>Scenario analysis is a method used to:</a:t>
            </a:r>
          </a:p>
          <a:p>
            <a:r>
              <a:rPr lang="en-US" sz="1200" dirty="0"/>
              <a:t>Forecast future portfolio or business value </a:t>
            </a:r>
          </a:p>
          <a:p>
            <a:r>
              <a:rPr lang="en-US" sz="1200" dirty="0"/>
              <a:t>Simulate different financial situations </a:t>
            </a:r>
          </a:p>
          <a:p>
            <a:r>
              <a:rPr lang="en-US" sz="1200" dirty="0"/>
              <a:t>Analyze possible outcomes under different conditions </a:t>
            </a:r>
          </a:p>
          <a:p>
            <a:endParaRPr lang="en-US" sz="1200" dirty="0"/>
          </a:p>
          <a:p>
            <a:r>
              <a:rPr lang="en-US" b="1" dirty="0"/>
              <a:t>Purpose</a:t>
            </a:r>
          </a:p>
          <a:p>
            <a:r>
              <a:rPr lang="en-US" sz="1400" dirty="0"/>
              <a:t>Helps investors and businesses prepare for: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Best-case scenarios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Worst-case scenarios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Unexpected market events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4C2982-4FB6-BD84-E676-E679C6AA2385}"/>
              </a:ext>
            </a:extLst>
          </p:cNvPr>
          <p:cNvSpPr/>
          <p:nvPr/>
        </p:nvSpPr>
        <p:spPr>
          <a:xfrm>
            <a:off x="690282" y="5082988"/>
            <a:ext cx="3801036" cy="149710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Key Insight</a:t>
            </a:r>
          </a:p>
          <a:p>
            <a:r>
              <a:rPr lang="en-US"/>
              <a:t>Scenario analysis answers “What if?” questions.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FBBC1-E68A-B5BD-8011-BD197B65100F}"/>
              </a:ext>
            </a:extLst>
          </p:cNvPr>
          <p:cNvSpPr/>
          <p:nvPr/>
        </p:nvSpPr>
        <p:spPr>
          <a:xfrm>
            <a:off x="5701553" y="1739153"/>
            <a:ext cx="5235388" cy="42492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Main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mathematical and statistical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Simulates multiple future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risk and uncertainty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improve strategic planning </a:t>
            </a:r>
          </a:p>
          <a:p>
            <a:r>
              <a:rPr lang="en-US" b="1" dirty="0"/>
              <a:t>Common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Investment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Corporate finance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finance planning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7A5804ED-4C38-DD64-47AA-FF07DB601873}"/>
              </a:ext>
            </a:extLst>
          </p:cNvPr>
          <p:cNvSpPr/>
          <p:nvPr/>
        </p:nvSpPr>
        <p:spPr>
          <a:xfrm>
            <a:off x="5979459" y="1981200"/>
            <a:ext cx="4437529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Key Features of Scenario 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88584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146632-3672-CE83-1AE2-99BA1D062EA3}"/>
              </a:ext>
            </a:extLst>
          </p:cNvPr>
          <p:cNvSpPr/>
          <p:nvPr/>
        </p:nvSpPr>
        <p:spPr>
          <a:xfrm>
            <a:off x="564776" y="340659"/>
            <a:ext cx="4025153" cy="6266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Steps in Scenario Analysis</a:t>
            </a:r>
          </a:p>
          <a:p>
            <a:endParaRPr lang="en-US" sz="2400" b="1" dirty="0"/>
          </a:p>
          <a:p>
            <a:r>
              <a:rPr lang="en-US" b="1" dirty="0"/>
              <a:t>Process of Scenario Analysis</a:t>
            </a:r>
          </a:p>
          <a:p>
            <a:endParaRPr lang="en-US" b="1" dirty="0"/>
          </a:p>
          <a:p>
            <a:r>
              <a:rPr lang="en-US" b="1" dirty="0"/>
              <a:t>1. Identify Variables</a:t>
            </a:r>
          </a:p>
          <a:p>
            <a:r>
              <a:rPr lang="en-US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 rates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Competition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Create Different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Best-case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Base-case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Worst-case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 Analyze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 the impact on profits, investments, or portfolio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 Evaluate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Determine whether risks are acceptable.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F0F11C-655B-6CCC-8A05-B2BE18F41370}"/>
              </a:ext>
            </a:extLst>
          </p:cNvPr>
          <p:cNvSpPr/>
          <p:nvPr/>
        </p:nvSpPr>
        <p:spPr>
          <a:xfrm>
            <a:off x="5495365" y="340659"/>
            <a:ext cx="4267200" cy="6266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Stress Testing (Worst-Case Analysis)</a:t>
            </a:r>
          </a:p>
          <a:p>
            <a:endParaRPr lang="en-US" b="1" dirty="0"/>
          </a:p>
          <a:p>
            <a:r>
              <a:rPr lang="en-US" b="1" dirty="0"/>
              <a:t>What is Stress Testing?</a:t>
            </a:r>
          </a:p>
          <a:p>
            <a:r>
              <a:rPr lang="en-US" dirty="0"/>
              <a:t>A type of scenario analysis focused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 negative situations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 crises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crashes 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Tests the strength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Investment portfolios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 institutions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Important Point</a:t>
            </a:r>
          </a:p>
          <a:p>
            <a:r>
              <a:rPr lang="en-US" dirty="0"/>
              <a:t>Banks and financial institutions are required to conduct stress tests.</a:t>
            </a:r>
          </a:p>
        </p:txBody>
      </p:sp>
    </p:spTree>
    <p:extLst>
      <p:ext uri="{BB962C8B-B14F-4D97-AF65-F5344CB8AC3E}">
        <p14:creationId xmlns:p14="http://schemas.microsoft.com/office/powerpoint/2010/main" val="12271147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3A3AEB37-A52A-38BF-EA59-513F6CEFF423}"/>
              </a:ext>
            </a:extLst>
          </p:cNvPr>
          <p:cNvSpPr/>
          <p:nvPr/>
        </p:nvSpPr>
        <p:spPr>
          <a:xfrm>
            <a:off x="654424" y="322729"/>
            <a:ext cx="8238564" cy="70821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Scenario Analysis vs Sensitivity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4492A6-6161-C7A5-879A-6C0314B11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537131"/>
              </p:ext>
            </p:extLst>
          </p:nvPr>
        </p:nvGraphicFramePr>
        <p:xfrm>
          <a:off x="654424" y="1114113"/>
          <a:ext cx="7844118" cy="2435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059">
                  <a:extLst>
                    <a:ext uri="{9D8B030D-6E8A-4147-A177-3AD203B41FA5}">
                      <a16:colId xmlns:a16="http://schemas.microsoft.com/office/drawing/2014/main" val="545412912"/>
                    </a:ext>
                  </a:extLst>
                </a:gridCol>
                <a:gridCol w="3922059">
                  <a:extLst>
                    <a:ext uri="{9D8B030D-6E8A-4147-A177-3AD203B41FA5}">
                      <a16:colId xmlns:a16="http://schemas.microsoft.com/office/drawing/2014/main" val="1153560859"/>
                    </a:ext>
                  </a:extLst>
                </a:gridCol>
              </a:tblGrid>
              <a:tr h="425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Scenario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Sensitivity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512383"/>
                  </a:ext>
                </a:extLst>
              </a:tr>
              <a:tr h="73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 multiple variables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Changes one variable at a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994818"/>
                  </a:ext>
                </a:extLst>
              </a:tr>
              <a:tr h="425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Examines overall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impact of one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303529"/>
                  </a:ext>
                </a:extLst>
              </a:tr>
              <a:tr h="425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Includes best &amp; worst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Focuses on variable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788882"/>
                  </a:ext>
                </a:extLst>
              </a:tr>
              <a:tr h="425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Broader strategic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Detailed variable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373290"/>
                  </a:ext>
                </a:extLst>
              </a:tr>
            </a:tbl>
          </a:graphicData>
        </a:graphic>
      </p:graphicFrame>
      <p:sp>
        <p:nvSpPr>
          <p:cNvPr id="4" name="Arrow: Left 3">
            <a:extLst>
              <a:ext uri="{FF2B5EF4-FFF2-40B4-BE49-F238E27FC236}">
                <a16:creationId xmlns:a16="http://schemas.microsoft.com/office/drawing/2014/main" id="{DE49188B-DAF9-68AB-7FAB-CBC69FEB7F5E}"/>
              </a:ext>
            </a:extLst>
          </p:cNvPr>
          <p:cNvSpPr/>
          <p:nvPr/>
        </p:nvSpPr>
        <p:spPr>
          <a:xfrm>
            <a:off x="8713694" y="1873624"/>
            <a:ext cx="2581835" cy="1389529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Sensitivity analysis is part of scenario analysis.</a:t>
            </a:r>
            <a:endParaRPr lang="en-IN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8558A4-B846-6A4A-4475-B950F7691739}"/>
              </a:ext>
            </a:extLst>
          </p:cNvPr>
          <p:cNvSpPr/>
          <p:nvPr/>
        </p:nvSpPr>
        <p:spPr>
          <a:xfrm>
            <a:off x="421341" y="3818965"/>
            <a:ext cx="3953435" cy="27163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Advantages of Scenario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identify risks early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strategic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Examines multiple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financial preparedness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D1FF8D-3706-761E-D8E8-DB437C47312E}"/>
              </a:ext>
            </a:extLst>
          </p:cNvPr>
          <p:cNvSpPr/>
          <p:nvPr/>
        </p:nvSpPr>
        <p:spPr>
          <a:xfrm>
            <a:off x="4773706" y="3818965"/>
            <a:ext cx="3953435" cy="27163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Disadvantages of Scenario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heavily on assumptions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Incorrect data leads to poor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affected by user bias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Relies on historical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6DDA3A-6F17-9354-5B10-312FD14C5F62}"/>
              </a:ext>
            </a:extLst>
          </p:cNvPr>
          <p:cNvSpPr/>
          <p:nvPr/>
        </p:nvSpPr>
        <p:spPr>
          <a:xfrm>
            <a:off x="9439836" y="4222376"/>
            <a:ext cx="2330823" cy="231289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“</a:t>
            </a:r>
            <a:r>
              <a:rPr lang="en-US" sz="1600" b="1" dirty="0"/>
              <a:t>Garbage In, Garbage Out”</a:t>
            </a:r>
            <a:br>
              <a:rPr lang="en-US" sz="1600" b="1" dirty="0"/>
            </a:br>
            <a:r>
              <a:rPr lang="en-US" sz="1600" b="1" dirty="0"/>
              <a:t>Poor input data produces unreliable results.</a:t>
            </a:r>
          </a:p>
        </p:txBody>
      </p:sp>
    </p:spTree>
    <p:extLst>
      <p:ext uri="{BB962C8B-B14F-4D97-AF65-F5344CB8AC3E}">
        <p14:creationId xmlns:p14="http://schemas.microsoft.com/office/powerpoint/2010/main" val="23433470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5F8BC7D-32D9-EC54-5164-430462B9BE96}"/>
              </a:ext>
            </a:extLst>
          </p:cNvPr>
          <p:cNvSpPr/>
          <p:nvPr/>
        </p:nvSpPr>
        <p:spPr>
          <a:xfrm>
            <a:off x="376517" y="833718"/>
            <a:ext cx="4141694" cy="6813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Applications in Personal Finance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1A579A4-6F79-7323-DAD6-EA14EB3B9CD4}"/>
              </a:ext>
            </a:extLst>
          </p:cNvPr>
          <p:cNvSpPr/>
          <p:nvPr/>
        </p:nvSpPr>
        <p:spPr>
          <a:xfrm>
            <a:off x="5118846" y="833718"/>
            <a:ext cx="4141694" cy="68131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Applications in Business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90E69-DEA4-0927-B3DD-8B4082AF6C3A}"/>
              </a:ext>
            </a:extLst>
          </p:cNvPr>
          <p:cNvSpPr/>
          <p:nvPr/>
        </p:nvSpPr>
        <p:spPr>
          <a:xfrm>
            <a:off x="376517" y="1658471"/>
            <a:ext cx="3756212" cy="49843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Personal Financial Decisions</a:t>
            </a:r>
          </a:p>
          <a:p>
            <a:r>
              <a:rPr lang="en-US" dirty="0"/>
              <a:t>Scenario analysis helps individuals evaluate: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Buying on credit vs cash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Job offer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repayment plans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Savings strategies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Comparing financial outcomes before purchasing a car on loan.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3EE81-C4DF-7132-BA81-9C49AB61A38B}"/>
              </a:ext>
            </a:extLst>
          </p:cNvPr>
          <p:cNvSpPr/>
          <p:nvPr/>
        </p:nvSpPr>
        <p:spPr>
          <a:xfrm>
            <a:off x="5118846" y="1658471"/>
            <a:ext cx="3756212" cy="49843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Corporate Uses</a:t>
            </a:r>
          </a:p>
          <a:p>
            <a:r>
              <a:rPr lang="en-US" dirty="0"/>
              <a:t>Businesses use scenario analysis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business locations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expansion opportunities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product launch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competitor actions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Choosing between two office locations based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Utilities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Insurance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accessibility</a:t>
            </a:r>
          </a:p>
        </p:txBody>
      </p:sp>
    </p:spTree>
    <p:extLst>
      <p:ext uri="{BB962C8B-B14F-4D97-AF65-F5344CB8AC3E}">
        <p14:creationId xmlns:p14="http://schemas.microsoft.com/office/powerpoint/2010/main" val="9004200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96D58-A0E7-A729-7E07-D9276EB594BF}"/>
              </a:ext>
            </a:extLst>
          </p:cNvPr>
          <p:cNvSpPr/>
          <p:nvPr/>
        </p:nvSpPr>
        <p:spPr>
          <a:xfrm>
            <a:off x="779930" y="295836"/>
            <a:ext cx="5405718" cy="923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Data Governance in the AI Era</a:t>
            </a:r>
          </a:p>
          <a:p>
            <a:pPr algn="ctr"/>
            <a:r>
              <a:rPr lang="it-IT" b="1" dirty="0"/>
              <a:t>Ensuring Secure, Accurate &amp; AI-Ready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769C37-3A94-9F6C-9509-BD6B1BF94EB2}"/>
              </a:ext>
            </a:extLst>
          </p:cNvPr>
          <p:cNvSpPr/>
          <p:nvPr/>
        </p:nvSpPr>
        <p:spPr>
          <a:xfrm>
            <a:off x="779930" y="1461247"/>
            <a:ext cx="3182470" cy="21963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What is Data Governance?</a:t>
            </a:r>
          </a:p>
          <a:p>
            <a:r>
              <a:rPr lang="en-US" sz="1200" dirty="0"/>
              <a:t>Data governance is the process of ensuring data is: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Secure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Private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Accurate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Available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Usable for analytics and AI systems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0C331E-F8F0-2D76-8E26-3EF7F0934466}"/>
              </a:ext>
            </a:extLst>
          </p:cNvPr>
          <p:cNvSpPr/>
          <p:nvPr/>
        </p:nvSpPr>
        <p:spPr>
          <a:xfrm>
            <a:off x="4365812" y="1461246"/>
            <a:ext cx="3182470" cy="21963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1" dirty="0"/>
              <a:t>Main Purpose</a:t>
            </a:r>
          </a:p>
          <a:p>
            <a:pPr>
              <a:buNone/>
            </a:pPr>
            <a:r>
              <a:rPr lang="en-US" dirty="0"/>
              <a:t>Set standards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collection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access and usage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994FFA-CB76-D063-4CA4-617C98E3395E}"/>
              </a:ext>
            </a:extLst>
          </p:cNvPr>
          <p:cNvSpPr/>
          <p:nvPr/>
        </p:nvSpPr>
        <p:spPr>
          <a:xfrm>
            <a:off x="8139953" y="1461246"/>
            <a:ext cx="2895600" cy="21336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/>
              <a:t>Key Insight</a:t>
            </a:r>
          </a:p>
          <a:p>
            <a:pPr>
              <a:buNone/>
            </a:pPr>
            <a:r>
              <a:rPr lang="en-US" dirty="0"/>
              <a:t>Good governance makes data “AI-ready.”</a:t>
            </a:r>
          </a:p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DB51-BEC8-ED46-59F5-D3B88062575B}"/>
              </a:ext>
            </a:extLst>
          </p:cNvPr>
          <p:cNvSpPr txBox="1"/>
          <p:nvPr/>
        </p:nvSpPr>
        <p:spPr>
          <a:xfrm>
            <a:off x="3137648" y="2650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F0505611-86AF-88BF-96F4-30DCE8140807}"/>
              </a:ext>
            </a:extLst>
          </p:cNvPr>
          <p:cNvSpPr/>
          <p:nvPr/>
        </p:nvSpPr>
        <p:spPr>
          <a:xfrm>
            <a:off x="779930" y="3818965"/>
            <a:ext cx="6096000" cy="63299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Why Data Governance Matters in 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9E87C9-1484-1E71-81F3-C67B2FDE56E2}"/>
              </a:ext>
            </a:extLst>
          </p:cNvPr>
          <p:cNvSpPr/>
          <p:nvPr/>
        </p:nvSpPr>
        <p:spPr>
          <a:xfrm>
            <a:off x="905435" y="4580966"/>
            <a:ext cx="2985247" cy="16853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AI systems depend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High-quality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access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Consistent data management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16188D-B1F6-E015-A6D2-12F184892188}"/>
              </a:ext>
            </a:extLst>
          </p:cNvPr>
          <p:cNvSpPr/>
          <p:nvPr/>
        </p:nvSpPr>
        <p:spPr>
          <a:xfrm>
            <a:off x="4276165" y="4580966"/>
            <a:ext cx="3424517" cy="16853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Without Governance, AI Faces: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Poor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Security risks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Compliance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AI hallucinations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4F6C4C-9619-76B5-82ED-74091F93DD4B}"/>
              </a:ext>
            </a:extLst>
          </p:cNvPr>
          <p:cNvSpPr/>
          <p:nvPr/>
        </p:nvSpPr>
        <p:spPr>
          <a:xfrm>
            <a:off x="8139953" y="4518213"/>
            <a:ext cx="2034988" cy="15598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is only as reliable as the data it uses.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3192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588CD36-AF30-2163-D424-1ADBFD447FFD}"/>
              </a:ext>
            </a:extLst>
          </p:cNvPr>
          <p:cNvSpPr/>
          <p:nvPr/>
        </p:nvSpPr>
        <p:spPr>
          <a:xfrm>
            <a:off x="457200" y="555812"/>
            <a:ext cx="4159623" cy="5827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Risks Without Data Governance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FDE635-274B-58DF-FEA2-6559A1D7B252}"/>
              </a:ext>
            </a:extLst>
          </p:cNvPr>
          <p:cNvSpPr/>
          <p:nvPr/>
        </p:nvSpPr>
        <p:spPr>
          <a:xfrm>
            <a:off x="457200" y="1290917"/>
            <a:ext cx="4159623" cy="522642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Silos</a:t>
            </a:r>
          </a:p>
          <a:p>
            <a:r>
              <a:rPr lang="en-US" dirty="0"/>
              <a:t>     Information trapped in separate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Poor Data Quality</a:t>
            </a:r>
          </a:p>
          <a:p>
            <a:r>
              <a:rPr lang="en-US" dirty="0"/>
              <a:t>     Inaccurate data causes unreliable AI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Unauthorized Data Access</a:t>
            </a:r>
          </a:p>
          <a:p>
            <a:r>
              <a:rPr lang="en-US" dirty="0"/>
              <a:t>    Sensitive information may be         exposed.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Compliance Failures</a:t>
            </a:r>
          </a:p>
          <a:p>
            <a:r>
              <a:rPr lang="en-US" dirty="0"/>
              <a:t>     Violations of laws like: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GDPR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CCPA </a:t>
            </a:r>
          </a:p>
          <a:p>
            <a:r>
              <a:rPr lang="en-US" b="1" dirty="0"/>
              <a:t>Key Insight</a:t>
            </a:r>
          </a:p>
          <a:p>
            <a:r>
              <a:rPr lang="en-US" dirty="0"/>
              <a:t>Weak governance increases business and legal risks.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8624EA9-8651-8202-2E0F-6861B2337A73}"/>
              </a:ext>
            </a:extLst>
          </p:cNvPr>
          <p:cNvSpPr/>
          <p:nvPr/>
        </p:nvSpPr>
        <p:spPr>
          <a:xfrm>
            <a:off x="5585012" y="555812"/>
            <a:ext cx="4159623" cy="5827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Benefits of Data Governance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B9B12C-FD49-4D91-CCA4-83E494019542}"/>
              </a:ext>
            </a:extLst>
          </p:cNvPr>
          <p:cNvSpPr/>
          <p:nvPr/>
        </p:nvSpPr>
        <p:spPr>
          <a:xfrm>
            <a:off x="5585012" y="1290917"/>
            <a:ext cx="4159623" cy="522642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Accelerates AI Insights</a:t>
            </a:r>
          </a:p>
          <a:p>
            <a:r>
              <a:rPr lang="en-US" dirty="0"/>
              <a:t>Improves predictive analytics and customer service.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Reduces Costs</a:t>
            </a:r>
          </a:p>
          <a:p>
            <a:r>
              <a:rPr lang="en-US" dirty="0"/>
              <a:t>Eliminates duplicate data and storage waste.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Enhances Compliance</a:t>
            </a:r>
          </a:p>
          <a:p>
            <a:r>
              <a:rPr lang="en-US" dirty="0"/>
              <a:t>Protects sensitive information and follows regulations.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Enables Data Democratization</a:t>
            </a:r>
          </a:p>
          <a:p>
            <a:r>
              <a:rPr lang="en-US" dirty="0"/>
              <a:t>Allows teams secure self-service access to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Manages Risk in Real Time</a:t>
            </a:r>
          </a:p>
          <a:p>
            <a:r>
              <a:rPr lang="en-US" dirty="0"/>
              <a:t>Detects unauthorized access and security threats quickly.</a:t>
            </a:r>
          </a:p>
        </p:txBody>
      </p:sp>
    </p:spTree>
    <p:extLst>
      <p:ext uri="{BB962C8B-B14F-4D97-AF65-F5344CB8AC3E}">
        <p14:creationId xmlns:p14="http://schemas.microsoft.com/office/powerpoint/2010/main" val="28439975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F60A99-421E-4DC4-77A1-BB7F8C1B3EAD}"/>
              </a:ext>
            </a:extLst>
          </p:cNvPr>
          <p:cNvSpPr/>
          <p:nvPr/>
        </p:nvSpPr>
        <p:spPr>
          <a:xfrm>
            <a:off x="403412" y="367553"/>
            <a:ext cx="9870141" cy="28328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A1D3705-752A-50F6-D65B-B05C95B965B1}"/>
              </a:ext>
            </a:extLst>
          </p:cNvPr>
          <p:cNvSpPr/>
          <p:nvPr/>
        </p:nvSpPr>
        <p:spPr>
          <a:xfrm>
            <a:off x="887506" y="582706"/>
            <a:ext cx="7897906" cy="46616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 Governance in the Cloud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7917F-CBB4-C496-D5A9-4F03952B60FD}"/>
              </a:ext>
            </a:extLst>
          </p:cNvPr>
          <p:cNvSpPr/>
          <p:nvPr/>
        </p:nvSpPr>
        <p:spPr>
          <a:xfrm>
            <a:off x="887506" y="1264024"/>
            <a:ext cx="2321859" cy="16584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 systems require: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Security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Scalability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AE19B3-5F05-B725-5F9B-236CBE7C56B4}"/>
              </a:ext>
            </a:extLst>
          </p:cNvPr>
          <p:cNvSpPr/>
          <p:nvPr/>
        </p:nvSpPr>
        <p:spPr>
          <a:xfrm>
            <a:off x="3487271" y="1264024"/>
            <a:ext cx="3845858" cy="16584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numCol="2" rtlCol="0" anchor="ctr"/>
          <a:lstStyle/>
          <a:p>
            <a:r>
              <a:rPr lang="en-US" b="1" dirty="0"/>
              <a:t>Key Features</a:t>
            </a:r>
          </a:p>
          <a:p>
            <a:r>
              <a:rPr lang="en-US" sz="1400" b="1" dirty="0"/>
              <a:t>Automated Metadata Cataloging</a:t>
            </a:r>
          </a:p>
          <a:p>
            <a:r>
              <a:rPr lang="en-US" sz="1200" dirty="0"/>
              <a:t>Organizes and  manages business </a:t>
            </a:r>
          </a:p>
          <a:p>
            <a:r>
              <a:rPr lang="en-US" sz="1200" dirty="0"/>
              <a:t>data automatically</a:t>
            </a:r>
          </a:p>
          <a:p>
            <a:r>
              <a:rPr lang="en-US" sz="1600" b="1" dirty="0"/>
              <a:t>Interoperability</a:t>
            </a:r>
          </a:p>
          <a:p>
            <a:r>
              <a:rPr lang="en-US" sz="1200" dirty="0"/>
              <a:t>Supports open data formats across platforms.</a:t>
            </a:r>
          </a:p>
          <a:p>
            <a:r>
              <a:rPr lang="en-US" sz="1600" b="1" dirty="0"/>
              <a:t>Scalable Access Controls</a:t>
            </a:r>
          </a:p>
          <a:p>
            <a:r>
              <a:rPr lang="en-US" sz="1200" dirty="0"/>
              <a:t>Controls who can access specific data.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B6C9D1-A6F4-C2B7-F74A-73DBC40D4DAF}"/>
              </a:ext>
            </a:extLst>
          </p:cNvPr>
          <p:cNvSpPr/>
          <p:nvPr/>
        </p:nvSpPr>
        <p:spPr>
          <a:xfrm>
            <a:off x="7485529" y="1264024"/>
            <a:ext cx="2725271" cy="18646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Example Technologies</a:t>
            </a:r>
          </a:p>
          <a:p>
            <a:pPr algn="ctr"/>
            <a:r>
              <a:rPr lang="en-IN" dirty="0"/>
              <a:t>Google Cloud </a:t>
            </a:r>
          </a:p>
          <a:p>
            <a:pPr algn="ctr"/>
            <a:r>
              <a:rPr lang="en-IN" dirty="0" err="1"/>
              <a:t>BigQuery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Apache Iceberg 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A5B85F3D-7113-6399-8746-ABFB7B001C99}"/>
              </a:ext>
            </a:extLst>
          </p:cNvPr>
          <p:cNvSpPr/>
          <p:nvPr/>
        </p:nvSpPr>
        <p:spPr>
          <a:xfrm>
            <a:off x="519953" y="3514165"/>
            <a:ext cx="7736541" cy="5827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Uses of Data Governance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74611F-504C-F1AD-E36A-CF3DD9FF27AD}"/>
              </a:ext>
            </a:extLst>
          </p:cNvPr>
          <p:cNvSpPr/>
          <p:nvPr/>
        </p:nvSpPr>
        <p:spPr>
          <a:xfrm>
            <a:off x="699247" y="4410636"/>
            <a:ext cx="2626659" cy="207981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Data Stewardship</a:t>
            </a:r>
          </a:p>
          <a:p>
            <a:r>
              <a:rPr lang="en-US"/>
              <a:t>Assigning responsibility for data management.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3C160B-C937-D066-8EF4-E56C1A92418B}"/>
              </a:ext>
            </a:extLst>
          </p:cNvPr>
          <p:cNvSpPr/>
          <p:nvPr/>
        </p:nvSpPr>
        <p:spPr>
          <a:xfrm>
            <a:off x="4069976" y="4338918"/>
            <a:ext cx="3083859" cy="207981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/>
              <a:t>Data Quality Management</a:t>
            </a:r>
          </a:p>
          <a:p>
            <a:pPr>
              <a:buNone/>
            </a:pPr>
            <a:r>
              <a:rPr lang="en-US" dirty="0"/>
              <a:t>Ensuring: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Timeliness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E5AF51-F86D-4220-334E-BFE8D5CE56E5}"/>
              </a:ext>
            </a:extLst>
          </p:cNvPr>
          <p:cNvSpPr/>
          <p:nvPr/>
        </p:nvSpPr>
        <p:spPr>
          <a:xfrm>
            <a:off x="7655859" y="4338917"/>
            <a:ext cx="3083859" cy="207981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Data Management</a:t>
            </a:r>
          </a:p>
          <a:p>
            <a:r>
              <a:rPr lang="en-US" dirty="0"/>
              <a:t>Managing the entire data lifecycle: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Disposal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12433-4D20-3C54-984D-D792ED2E0416}"/>
              </a:ext>
            </a:extLst>
          </p:cNvPr>
          <p:cNvSpPr txBox="1"/>
          <p:nvPr/>
        </p:nvSpPr>
        <p:spPr>
          <a:xfrm>
            <a:off x="3048000" y="25428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144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54D07B-6675-0528-5888-98006F898703}"/>
              </a:ext>
            </a:extLst>
          </p:cNvPr>
          <p:cNvSpPr/>
          <p:nvPr/>
        </p:nvSpPr>
        <p:spPr>
          <a:xfrm>
            <a:off x="708212" y="573741"/>
            <a:ext cx="4446494" cy="581809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u="sng" dirty="0">
                <a:latin typeface="Algerian" panose="04020705040A02060702" pitchFamily="82" charset="0"/>
              </a:rPr>
              <a:t>Data Governance &amp; Security</a:t>
            </a:r>
          </a:p>
          <a:p>
            <a:r>
              <a:rPr lang="en-US" sz="2000" b="1" dirty="0"/>
              <a:t>Security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control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encryption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Permission management </a:t>
            </a:r>
          </a:p>
          <a:p>
            <a:endParaRPr lang="en-US" dirty="0"/>
          </a:p>
          <a:p>
            <a:r>
              <a:rPr lang="en-US" sz="2000" b="1" dirty="0"/>
              <a:t>Goal</a:t>
            </a:r>
          </a:p>
          <a:p>
            <a:r>
              <a:rPr lang="en-US" dirty="0"/>
              <a:t>Protect sensitive data while enabling business access.</a:t>
            </a:r>
          </a:p>
          <a:p>
            <a:endParaRPr lang="en-US" dirty="0"/>
          </a:p>
          <a:p>
            <a:r>
              <a:rPr lang="en-US" sz="2000" b="1" dirty="0"/>
              <a:t>Important Point</a:t>
            </a:r>
          </a:p>
          <a:p>
            <a:r>
              <a:rPr lang="en-US" dirty="0"/>
              <a:t>Security and accessibility must be balanced carefully.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98F1DA-E7BC-474A-5E5C-B0B0A7C1B236}"/>
              </a:ext>
            </a:extLst>
          </p:cNvPr>
          <p:cNvSpPr/>
          <p:nvPr/>
        </p:nvSpPr>
        <p:spPr>
          <a:xfrm>
            <a:off x="6221506" y="573741"/>
            <a:ext cx="3881718" cy="305696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Algerian" panose="04020705040A02060702" pitchFamily="82" charset="0"/>
              </a:rPr>
              <a:t>Data Quality Dimensions</a:t>
            </a:r>
          </a:p>
          <a:p>
            <a:r>
              <a:rPr lang="en-US" b="1" dirty="0"/>
              <a:t>Six Dimensions of Data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Completeness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Timeliness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Validity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Uniqueness </a:t>
            </a:r>
          </a:p>
          <a:p>
            <a:r>
              <a:rPr lang="en-US" b="1" dirty="0"/>
              <a:t>Key Insight</a:t>
            </a:r>
          </a:p>
          <a:p>
            <a:r>
              <a:rPr lang="en-US" sz="1600" dirty="0"/>
              <a:t>High-quality data improves AI performance and business decisions.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CAF47D-A07E-F3FE-914A-4929AED19E0C}"/>
              </a:ext>
            </a:extLst>
          </p:cNvPr>
          <p:cNvSpPr/>
          <p:nvPr/>
        </p:nvSpPr>
        <p:spPr>
          <a:xfrm>
            <a:off x="6221506" y="3836894"/>
            <a:ext cx="3881718" cy="279698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Algerian" panose="04020705040A02060702" pitchFamily="82" charset="0"/>
              </a:rPr>
              <a:t>Role of Data Governance in AI Success</a:t>
            </a:r>
          </a:p>
          <a:p>
            <a:r>
              <a:rPr lang="en-US" b="1" dirty="0"/>
              <a:t>How Governance Supports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Improves machine learning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Prevents AI hallucinations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Enables trustworthy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ethical AI use </a:t>
            </a:r>
          </a:p>
          <a:p>
            <a:r>
              <a:rPr lang="en-US" b="1" dirty="0"/>
              <a:t>Key Insight</a:t>
            </a:r>
          </a:p>
          <a:p>
            <a:r>
              <a:rPr lang="en-US" sz="1400" dirty="0"/>
              <a:t>Strong governance builds reliable and responsible AI systems.</a:t>
            </a:r>
          </a:p>
        </p:txBody>
      </p:sp>
    </p:spTree>
    <p:extLst>
      <p:ext uri="{BB962C8B-B14F-4D97-AF65-F5344CB8AC3E}">
        <p14:creationId xmlns:p14="http://schemas.microsoft.com/office/powerpoint/2010/main" val="23824417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3EF2E5-F8EE-6235-85EF-B38203C5B427}"/>
              </a:ext>
            </a:extLst>
          </p:cNvPr>
          <p:cNvSpPr/>
          <p:nvPr/>
        </p:nvSpPr>
        <p:spPr>
          <a:xfrm>
            <a:off x="905435" y="887506"/>
            <a:ext cx="4320989" cy="25414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Common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large data volumes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Maintaining data 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Integrating multiple data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Balancing access with security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Keeping up with changing regulations 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A2D41CE-9B69-A931-66DC-7F7CBD7F3139}"/>
              </a:ext>
            </a:extLst>
          </p:cNvPr>
          <p:cNvSpPr/>
          <p:nvPr/>
        </p:nvSpPr>
        <p:spPr>
          <a:xfrm>
            <a:off x="824752" y="125506"/>
            <a:ext cx="4572001" cy="59167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Algerian" panose="04020705040A02060702" pitchFamily="82" charset="0"/>
              </a:rPr>
              <a:t>Challenges in Data Governance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3B6125-EEBD-CB4E-C10D-A6FFB0347C2B}"/>
              </a:ext>
            </a:extLst>
          </p:cNvPr>
          <p:cNvSpPr/>
          <p:nvPr/>
        </p:nvSpPr>
        <p:spPr>
          <a:xfrm>
            <a:off x="6096000" y="977153"/>
            <a:ext cx="3370729" cy="245184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Algerian" panose="04020705040A02060702" pitchFamily="82" charset="0"/>
              </a:rPr>
              <a:t>Solution</a:t>
            </a:r>
          </a:p>
          <a:p>
            <a:r>
              <a:rPr lang="en-US" dirty="0"/>
              <a:t>Use automated governance tools and clear policies.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06740-7A4A-744D-A22D-26C566C611D4}"/>
              </a:ext>
            </a:extLst>
          </p:cNvPr>
          <p:cNvSpPr/>
          <p:nvPr/>
        </p:nvSpPr>
        <p:spPr>
          <a:xfrm>
            <a:off x="1559859" y="4428565"/>
            <a:ext cx="7620000" cy="1981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/>
              <a:t>Conclusion</a:t>
            </a:r>
          </a:p>
          <a:p>
            <a:r>
              <a:rPr lang="en-US" dirty="0"/>
              <a:t>Data governance ensures data is secure, accurate, and AI-ready. </a:t>
            </a:r>
          </a:p>
          <a:p>
            <a:r>
              <a:rPr lang="en-US" dirty="0"/>
              <a:t>It improves AI performance, compliance, and business efficiency. </a:t>
            </a:r>
          </a:p>
          <a:p>
            <a:r>
              <a:rPr lang="en-US" dirty="0"/>
              <a:t>Strong governance reduces risks and supports smarter decisions. </a:t>
            </a:r>
          </a:p>
          <a:p>
            <a:r>
              <a:rPr lang="en-US" dirty="0"/>
              <a:t>Cloud technologies help modern organizations manage governance at scale. 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02DC242E-5AF0-00F2-2608-96949F439639}"/>
              </a:ext>
            </a:extLst>
          </p:cNvPr>
          <p:cNvSpPr/>
          <p:nvPr/>
        </p:nvSpPr>
        <p:spPr>
          <a:xfrm>
            <a:off x="9296400" y="3567952"/>
            <a:ext cx="2599765" cy="1837765"/>
          </a:xfrm>
          <a:prstGeom prst="wedgeEllipseCallou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“Effective AI begins with effective data governance.”</a:t>
            </a:r>
          </a:p>
        </p:txBody>
      </p:sp>
    </p:spTree>
    <p:extLst>
      <p:ext uri="{BB962C8B-B14F-4D97-AF65-F5344CB8AC3E}">
        <p14:creationId xmlns:p14="http://schemas.microsoft.com/office/powerpoint/2010/main" val="11180240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C86128-B9D6-6E3B-370E-AAFEB02058E6}"/>
              </a:ext>
            </a:extLst>
          </p:cNvPr>
          <p:cNvSpPr/>
          <p:nvPr/>
        </p:nvSpPr>
        <p:spPr>
          <a:xfrm>
            <a:off x="2653553" y="313765"/>
            <a:ext cx="4930588" cy="528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The Role of Data Lineage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BC7AEC0-F058-F4CC-E0E8-63724533A099}"/>
              </a:ext>
            </a:extLst>
          </p:cNvPr>
          <p:cNvSpPr/>
          <p:nvPr/>
        </p:nvSpPr>
        <p:spPr>
          <a:xfrm>
            <a:off x="6604746" y="1703294"/>
            <a:ext cx="1326776" cy="412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FD4F8-1EF5-AF20-8186-DF909BFB624B}"/>
              </a:ext>
            </a:extLst>
          </p:cNvPr>
          <p:cNvSpPr/>
          <p:nvPr/>
        </p:nvSpPr>
        <p:spPr>
          <a:xfrm>
            <a:off x="8086164" y="972671"/>
            <a:ext cx="2641636" cy="18198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Data lineage helps organizations understand how data flows across systems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3397E1-95F1-F808-450D-68C1056AC144}"/>
              </a:ext>
            </a:extLst>
          </p:cNvPr>
          <p:cNvSpPr/>
          <p:nvPr/>
        </p:nvSpPr>
        <p:spPr>
          <a:xfrm>
            <a:off x="712694" y="972671"/>
            <a:ext cx="2720788" cy="18198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What is Data Lineage?</a:t>
            </a:r>
          </a:p>
          <a:p>
            <a:r>
              <a:rPr lang="en-US" sz="1600" dirty="0"/>
              <a:t>Tracks the complete journey of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From source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Through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final destination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CA9885-DAD0-0E9E-E3F5-3C64ECAC0609}"/>
              </a:ext>
            </a:extLst>
          </p:cNvPr>
          <p:cNvSpPr/>
          <p:nvPr/>
        </p:nvSpPr>
        <p:spPr>
          <a:xfrm>
            <a:off x="3729317" y="972671"/>
            <a:ext cx="2720788" cy="18198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Why It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transparency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monitor data movement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Identifies authoritative data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Supports governance controls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62A15C-4CCF-BE9F-0784-AD1F015330B7}"/>
              </a:ext>
            </a:extLst>
          </p:cNvPr>
          <p:cNvSpPr/>
          <p:nvPr/>
        </p:nvSpPr>
        <p:spPr>
          <a:xfrm>
            <a:off x="2653554" y="3343835"/>
            <a:ext cx="4930588" cy="528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Data Governance Checklist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71F99E-CD52-EF1D-7096-5B3A9EF731D8}"/>
              </a:ext>
            </a:extLst>
          </p:cNvPr>
          <p:cNvSpPr/>
          <p:nvPr/>
        </p:nvSpPr>
        <p:spPr>
          <a:xfrm>
            <a:off x="1842246" y="4065492"/>
            <a:ext cx="3783105" cy="25280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Essential Governance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Define roles and responsibilities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Create policies and standards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Build a single source of truth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Set access controls and user roles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Automate repetitive workflows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Conduct regular reviews and improvements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135E76C-B7FF-A91D-44A6-FCB795DB4753}"/>
              </a:ext>
            </a:extLst>
          </p:cNvPr>
          <p:cNvSpPr/>
          <p:nvPr/>
        </p:nvSpPr>
        <p:spPr>
          <a:xfrm>
            <a:off x="5847228" y="5015752"/>
            <a:ext cx="1515036" cy="6275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6B2E59-1B4D-2280-B211-057C9E1440B5}"/>
              </a:ext>
            </a:extLst>
          </p:cNvPr>
          <p:cNvSpPr/>
          <p:nvPr/>
        </p:nvSpPr>
        <p:spPr>
          <a:xfrm>
            <a:off x="7584141" y="4204448"/>
            <a:ext cx="2931458" cy="21784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Effective governance requires continuous monitoring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79798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36AD12-ED2B-8973-AE48-CCED572FFFE6}"/>
              </a:ext>
            </a:extLst>
          </p:cNvPr>
          <p:cNvSpPr/>
          <p:nvPr/>
        </p:nvSpPr>
        <p:spPr>
          <a:xfrm>
            <a:off x="762000" y="385482"/>
            <a:ext cx="3801035" cy="36486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Data Governance Roles</a:t>
            </a:r>
          </a:p>
          <a:p>
            <a:r>
              <a:rPr lang="en-IN" b="1" dirty="0">
                <a:solidFill>
                  <a:schemeClr val="bg1"/>
                </a:solidFill>
              </a:rPr>
              <a:t>Key Governance Roles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Data Administrator</a:t>
            </a:r>
          </a:p>
          <a:p>
            <a:r>
              <a:rPr lang="en-IN" sz="1600" dirty="0">
                <a:solidFill>
                  <a:schemeClr val="bg1"/>
                </a:solidFill>
              </a:rPr>
              <a:t>Oversees the governance program.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Data Steward</a:t>
            </a:r>
          </a:p>
          <a:p>
            <a:r>
              <a:rPr lang="en-IN" sz="1600" dirty="0">
                <a:solidFill>
                  <a:schemeClr val="bg1"/>
                </a:solidFill>
              </a:rPr>
              <a:t>Ensures data quality and accessibility.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Data Custodian</a:t>
            </a:r>
          </a:p>
          <a:p>
            <a:r>
              <a:rPr lang="en-IN" sz="1600" dirty="0">
                <a:solidFill>
                  <a:schemeClr val="bg1"/>
                </a:solidFill>
              </a:rPr>
              <a:t>Protects data storage and movement.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Data User</a:t>
            </a:r>
          </a:p>
          <a:p>
            <a:r>
              <a:rPr lang="en-IN" sz="1600" dirty="0">
                <a:solidFill>
                  <a:schemeClr val="bg1"/>
                </a:solidFill>
              </a:rPr>
              <a:t>Uses data for business value creation.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4D3AF4-227E-EFC0-4E9E-93B959A2587E}"/>
              </a:ext>
            </a:extLst>
          </p:cNvPr>
          <p:cNvSpPr/>
          <p:nvPr/>
        </p:nvSpPr>
        <p:spPr>
          <a:xfrm>
            <a:off x="5486400" y="385482"/>
            <a:ext cx="4482353" cy="36486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Data Mapping &amp; Data Classification</a:t>
            </a:r>
          </a:p>
          <a:p>
            <a:r>
              <a:rPr lang="en-IN" b="1" dirty="0">
                <a:solidFill>
                  <a:schemeClr val="bg1"/>
                </a:solidFill>
              </a:rPr>
              <a:t>Data Mapping</a:t>
            </a:r>
          </a:p>
          <a:p>
            <a:r>
              <a:rPr lang="en-IN" dirty="0">
                <a:solidFill>
                  <a:schemeClr val="bg1"/>
                </a:solidFill>
              </a:rPr>
              <a:t>Shows: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Where data comes from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Where it moves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Which systems interact with it </a:t>
            </a:r>
          </a:p>
          <a:p>
            <a:r>
              <a:rPr lang="en-IN" b="1" dirty="0">
                <a:solidFill>
                  <a:schemeClr val="bg1"/>
                </a:solidFill>
              </a:rPr>
              <a:t>Data Classification</a:t>
            </a:r>
          </a:p>
          <a:p>
            <a:r>
              <a:rPr lang="en-IN" dirty="0">
                <a:solidFill>
                  <a:schemeClr val="bg1"/>
                </a:solidFill>
              </a:rPr>
              <a:t>Categorizes data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Risk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Regulations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File type </a:t>
            </a:r>
          </a:p>
          <a:p>
            <a:r>
              <a:rPr lang="en-IN" b="1" dirty="0">
                <a:solidFill>
                  <a:schemeClr val="bg1"/>
                </a:solidFill>
              </a:rPr>
              <a:t>Examples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GDPR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HIPAA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PCI DSS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FA2A87-8411-4AEA-8703-2E6130DCE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970135"/>
              </p:ext>
            </p:extLst>
          </p:nvPr>
        </p:nvGraphicFramePr>
        <p:xfrm>
          <a:off x="382493" y="5112373"/>
          <a:ext cx="8128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64761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3831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10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Managing data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3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Controlling data sharing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6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Protecting data from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85168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197E2D4-E976-FB4F-C0B4-1AA180D51E4D}"/>
              </a:ext>
            </a:extLst>
          </p:cNvPr>
          <p:cNvSpPr/>
          <p:nvPr/>
        </p:nvSpPr>
        <p:spPr>
          <a:xfrm>
            <a:off x="1010023" y="4428565"/>
            <a:ext cx="6104965" cy="43030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Data Governance vs Privacy vs Security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D2B0D464-9AB0-372F-23EA-92B261CC3A0F}"/>
              </a:ext>
            </a:extLst>
          </p:cNvPr>
          <p:cNvSpPr/>
          <p:nvPr/>
        </p:nvSpPr>
        <p:spPr>
          <a:xfrm>
            <a:off x="8860118" y="4258234"/>
            <a:ext cx="2321859" cy="2017059"/>
          </a:xfrm>
          <a:prstGeom prst="wedgeEllipse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Strong governance creates trusted, secure, and business-ready data.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1971813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EB28340-A9F7-552F-78EB-806BF39238FA}"/>
              </a:ext>
            </a:extLst>
          </p:cNvPr>
          <p:cNvSpPr/>
          <p:nvPr/>
        </p:nvSpPr>
        <p:spPr>
          <a:xfrm>
            <a:off x="502028" y="215153"/>
            <a:ext cx="5378824" cy="582706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Data Governance Policies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A9BEFD-36A3-9010-A908-50EE062EFC7B}"/>
              </a:ext>
            </a:extLst>
          </p:cNvPr>
          <p:cNvSpPr/>
          <p:nvPr/>
        </p:nvSpPr>
        <p:spPr>
          <a:xfrm>
            <a:off x="6517340" y="1134035"/>
            <a:ext cx="3236259" cy="204395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Purpose</a:t>
            </a:r>
          </a:p>
          <a:p>
            <a:r>
              <a:rPr lang="en-US" dirty="0"/>
              <a:t>Ensure secure, ethical, and standardized data management.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F1D98DE-7953-DAFE-3546-6B18EAF19E84}"/>
              </a:ext>
            </a:extLst>
          </p:cNvPr>
          <p:cNvSpPr/>
          <p:nvPr/>
        </p:nvSpPr>
        <p:spPr>
          <a:xfrm>
            <a:off x="5011272" y="1927410"/>
            <a:ext cx="1326777" cy="45720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BBF5AB-5FCA-752A-D81B-FD83551D64AB}"/>
              </a:ext>
            </a:extLst>
          </p:cNvPr>
          <p:cNvSpPr/>
          <p:nvPr/>
        </p:nvSpPr>
        <p:spPr>
          <a:xfrm>
            <a:off x="502028" y="950259"/>
            <a:ext cx="4329953" cy="222772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Essential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Governance Structure Policy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Access Policy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Usage Policy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Integrity &amp; Integration Policy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1BB88-3B10-BCEB-F8DE-0FBA0BF78390}"/>
              </a:ext>
            </a:extLst>
          </p:cNvPr>
          <p:cNvSpPr/>
          <p:nvPr/>
        </p:nvSpPr>
        <p:spPr>
          <a:xfrm>
            <a:off x="591671" y="3765176"/>
            <a:ext cx="4957482" cy="5827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Data Governance Structure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CFD7B8-96DE-18EF-AA76-9E404EE98082}"/>
              </a:ext>
            </a:extLst>
          </p:cNvPr>
          <p:cNvSpPr/>
          <p:nvPr/>
        </p:nvSpPr>
        <p:spPr>
          <a:xfrm>
            <a:off x="502027" y="4482353"/>
            <a:ext cx="5118844" cy="216049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Governance Bodies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EDM Council</a:t>
            </a:r>
          </a:p>
          <a:p>
            <a:r>
              <a:rPr lang="en-US" sz="1200" dirty="0"/>
              <a:t>Handles strategic enterprise data decisions.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Governance Committee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Appoints data stewards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Resolves data issues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Defines governance priorities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22C91D4-3F90-CB1E-C771-7F67D5738486}"/>
              </a:ext>
            </a:extLst>
          </p:cNvPr>
          <p:cNvSpPr/>
          <p:nvPr/>
        </p:nvSpPr>
        <p:spPr>
          <a:xfrm>
            <a:off x="5907742" y="5266765"/>
            <a:ext cx="1326777" cy="45720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E62CF6-4652-8322-8BF4-802304553017}"/>
              </a:ext>
            </a:extLst>
          </p:cNvPr>
          <p:cNvSpPr/>
          <p:nvPr/>
        </p:nvSpPr>
        <p:spPr>
          <a:xfrm>
            <a:off x="7377952" y="4347882"/>
            <a:ext cx="3110753" cy="21604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Governance responsibilities are shared across departments.</a:t>
            </a:r>
          </a:p>
        </p:txBody>
      </p:sp>
    </p:spTree>
    <p:extLst>
      <p:ext uri="{BB962C8B-B14F-4D97-AF65-F5344CB8AC3E}">
        <p14:creationId xmlns:p14="http://schemas.microsoft.com/office/powerpoint/2010/main" val="42573694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9FAFE34-C0BC-D168-3482-7608A601760D}"/>
              </a:ext>
            </a:extLst>
          </p:cNvPr>
          <p:cNvSpPr/>
          <p:nvPr/>
        </p:nvSpPr>
        <p:spPr>
          <a:xfrm>
            <a:off x="475129" y="286871"/>
            <a:ext cx="4858871" cy="6096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lgerian" panose="04020705040A02060702" pitchFamily="82" charset="0"/>
              </a:rPr>
              <a:t>Data Access &amp; Usage Policies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46F2-BDC0-EB03-49B0-87ED741E9248}"/>
              </a:ext>
            </a:extLst>
          </p:cNvPr>
          <p:cNvSpPr/>
          <p:nvPr/>
        </p:nvSpPr>
        <p:spPr>
          <a:xfrm>
            <a:off x="475129" y="1084730"/>
            <a:ext cx="4572000" cy="4007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Data Access Policy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Controls who can access data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Uses security classifications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Allows appeal process for denied access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Data Usage Policy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Data must be used: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Ethically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Legally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Only for job-related purposes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Important Point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Misuse of data can lead to disciplinary or legal action.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608CA48-B3B7-C028-F6A7-76D4809E72B4}"/>
              </a:ext>
            </a:extLst>
          </p:cNvPr>
          <p:cNvSpPr/>
          <p:nvPr/>
        </p:nvSpPr>
        <p:spPr>
          <a:xfrm>
            <a:off x="6320117" y="1604682"/>
            <a:ext cx="4814048" cy="65442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Algerian" panose="04020705040A02060702" pitchFamily="82" charset="0"/>
              </a:rPr>
              <a:t>Data Integrity &amp; Integration Policy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1935A-7EB1-89D1-1612-D0C080A0F1A7}"/>
              </a:ext>
            </a:extLst>
          </p:cNvPr>
          <p:cNvSpPr/>
          <p:nvPr/>
        </p:nvSpPr>
        <p:spPr>
          <a:xfrm>
            <a:off x="6320118" y="2483224"/>
            <a:ext cx="4733364" cy="37203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Data Integrity</a:t>
            </a:r>
          </a:p>
          <a:p>
            <a:r>
              <a:rPr lang="en-IN" dirty="0"/>
              <a:t>Ensures:</a:t>
            </a:r>
          </a:p>
          <a:p>
            <a:r>
              <a:rPr lang="en-IN" dirty="0"/>
              <a:t>Accuracy </a:t>
            </a:r>
          </a:p>
          <a:p>
            <a:r>
              <a:rPr lang="en-IN" dirty="0"/>
              <a:t>Reliability </a:t>
            </a:r>
          </a:p>
          <a:p>
            <a:r>
              <a:rPr lang="en-IN" dirty="0"/>
              <a:t>Consistency of data </a:t>
            </a:r>
          </a:p>
          <a:p>
            <a:r>
              <a:rPr lang="en-IN" b="1" dirty="0">
                <a:solidFill>
                  <a:schemeClr val="bg1"/>
                </a:solidFill>
              </a:rPr>
              <a:t>Data Integration</a:t>
            </a:r>
          </a:p>
          <a:p>
            <a:r>
              <a:rPr lang="en-IN" dirty="0"/>
              <a:t>Allows data sharing across:</a:t>
            </a:r>
          </a:p>
          <a:p>
            <a:r>
              <a:rPr lang="en-IN" dirty="0"/>
              <a:t>Systems </a:t>
            </a:r>
          </a:p>
          <a:p>
            <a:r>
              <a:rPr lang="en-IN" dirty="0"/>
              <a:t>Departments </a:t>
            </a:r>
          </a:p>
          <a:p>
            <a:r>
              <a:rPr lang="en-IN" dirty="0"/>
              <a:t>Business functions </a:t>
            </a:r>
          </a:p>
          <a:p>
            <a:r>
              <a:rPr lang="en-IN" b="1" dirty="0">
                <a:solidFill>
                  <a:schemeClr val="bg1"/>
                </a:solidFill>
                <a:highlight>
                  <a:srgbClr val="FFFF00"/>
                </a:highlight>
              </a:rPr>
              <a:t>Supporting Element</a:t>
            </a:r>
          </a:p>
          <a:p>
            <a:r>
              <a:rPr lang="en-IN" dirty="0">
                <a:solidFill>
                  <a:schemeClr val="bg1"/>
                </a:solidFill>
                <a:highlight>
                  <a:srgbClr val="FFFF00"/>
                </a:highlight>
              </a:rPr>
              <a:t>Metadata documentation improves understanding and standardization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64066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0DD4127F-A2EE-9E71-4CD2-6EF695480985}"/>
              </a:ext>
            </a:extLst>
          </p:cNvPr>
          <p:cNvSpPr/>
          <p:nvPr/>
        </p:nvSpPr>
        <p:spPr>
          <a:xfrm>
            <a:off x="5298143" y="2949388"/>
            <a:ext cx="2070847" cy="959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4639DCD-C2CB-B019-C4B7-43DC2657ADA1}"/>
              </a:ext>
            </a:extLst>
          </p:cNvPr>
          <p:cNvSpPr/>
          <p:nvPr/>
        </p:nvSpPr>
        <p:spPr>
          <a:xfrm>
            <a:off x="7691717" y="1788458"/>
            <a:ext cx="2922494" cy="2886636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Strong governance policies create trustworthy, compliant, and high-quality data systems.</a:t>
            </a:r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85B8CE-307B-BB3B-2FD7-ECFF674052EE}"/>
              </a:ext>
            </a:extLst>
          </p:cNvPr>
          <p:cNvSpPr/>
          <p:nvPr/>
        </p:nvSpPr>
        <p:spPr>
          <a:xfrm>
            <a:off x="251012" y="1299883"/>
            <a:ext cx="4572000" cy="43837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Ensuring Compliance</a:t>
            </a:r>
          </a:p>
          <a:p>
            <a:r>
              <a:rPr lang="en-US" b="1" dirty="0"/>
              <a:t>Compliance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Employee training programs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 audits and assessments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documentation and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Cross-department collaboration </a:t>
            </a:r>
          </a:p>
          <a:p>
            <a:pPr algn="ctr"/>
            <a:r>
              <a:rPr lang="en-US" sz="1600" b="1" dirty="0"/>
              <a:t>Key Regulations</a:t>
            </a:r>
          </a:p>
          <a:p>
            <a:pPr algn="ctr"/>
            <a:r>
              <a:rPr lang="en-US" sz="1600" dirty="0"/>
              <a:t>GDPR </a:t>
            </a:r>
          </a:p>
          <a:p>
            <a:pPr algn="ctr"/>
            <a:r>
              <a:rPr lang="en-US" sz="1600" dirty="0"/>
              <a:t>HIPAA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241239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3259808B-D84D-D509-0BAD-38E01A803AA6}"/>
              </a:ext>
            </a:extLst>
          </p:cNvPr>
          <p:cNvSpPr/>
          <p:nvPr/>
        </p:nvSpPr>
        <p:spPr>
          <a:xfrm>
            <a:off x="466165" y="421341"/>
            <a:ext cx="4267200" cy="5737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Ethics – Meaning &amp; Importance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316202F-1B8B-1A4C-B1E1-AD3B54F4A63D}"/>
              </a:ext>
            </a:extLst>
          </p:cNvPr>
          <p:cNvSpPr/>
          <p:nvPr/>
        </p:nvSpPr>
        <p:spPr>
          <a:xfrm>
            <a:off x="5607424" y="3751726"/>
            <a:ext cx="4267200" cy="5737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Ethics Regulations &amp; Governance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BB9A0BA-F42B-C9FE-861C-27A46181424B}"/>
              </a:ext>
            </a:extLst>
          </p:cNvPr>
          <p:cNvSpPr/>
          <p:nvPr/>
        </p:nvSpPr>
        <p:spPr>
          <a:xfrm>
            <a:off x="466165" y="3751727"/>
            <a:ext cx="4267200" cy="5737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Real-World Data Ethics Issues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BB826D4-5A57-C025-4103-726B27B52DCE}"/>
              </a:ext>
            </a:extLst>
          </p:cNvPr>
          <p:cNvSpPr/>
          <p:nvPr/>
        </p:nvSpPr>
        <p:spPr>
          <a:xfrm>
            <a:off x="5647765" y="421340"/>
            <a:ext cx="4267200" cy="5737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Core Principles of Data Ethics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194AB-B84A-27FA-DA33-71F5A72E99E8}"/>
              </a:ext>
            </a:extLst>
          </p:cNvPr>
          <p:cNvSpPr/>
          <p:nvPr/>
        </p:nvSpPr>
        <p:spPr>
          <a:xfrm>
            <a:off x="466165" y="1057835"/>
            <a:ext cx="4025153" cy="2133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Data Ethics:</a:t>
            </a:r>
            <a:br>
              <a:rPr lang="en-US" dirty="0"/>
            </a:br>
            <a:r>
              <a:rPr lang="en-US" sz="1400" dirty="0"/>
              <a:t>Principles that guide responsible collection, storage, sharing, and use of data</a:t>
            </a:r>
            <a:r>
              <a:rPr lang="en-US" dirty="0"/>
              <a:t>.</a:t>
            </a:r>
          </a:p>
          <a:p>
            <a:r>
              <a:rPr lang="en-US" b="1" dirty="0"/>
              <a:t>Why It Matters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Protects privacy and user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Prevents misuse of personal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bias in AI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Ensures secure and fair data practices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071993-88B2-4C70-3BC6-F9240174CC8E}"/>
              </a:ext>
            </a:extLst>
          </p:cNvPr>
          <p:cNvSpPr/>
          <p:nvPr/>
        </p:nvSpPr>
        <p:spPr>
          <a:xfrm>
            <a:off x="466165" y="4410635"/>
            <a:ext cx="4025153" cy="2133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Examples</a:t>
            </a: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Facebook data breach (533M users exposed)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Amazon hiring algorithm bias against women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Facial recognition errors for dark skin tones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Uber’s misuse of customer tracking data </a:t>
            </a:r>
          </a:p>
          <a:p>
            <a:r>
              <a:rPr lang="en-IN" b="1" dirty="0"/>
              <a:t>Impact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Loss of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Privacy violations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Legal and ethical concerns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1717D-D569-AF7D-A8C4-901F407A8693}"/>
              </a:ext>
            </a:extLst>
          </p:cNvPr>
          <p:cNvSpPr/>
          <p:nvPr/>
        </p:nvSpPr>
        <p:spPr>
          <a:xfrm>
            <a:off x="5647765" y="1080249"/>
            <a:ext cx="4025153" cy="2133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Transparency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Clear use of data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Accountability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Organizations responsible for data use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Privacy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Protection from unauthorized access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Individual Control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Users can access or delete data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Fairness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Avoid discrimination and bias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ECA12-7305-E7F9-8600-CDE58DFF0C0B}"/>
              </a:ext>
            </a:extLst>
          </p:cNvPr>
          <p:cNvSpPr/>
          <p:nvPr/>
        </p:nvSpPr>
        <p:spPr>
          <a:xfrm>
            <a:off x="5607423" y="4410635"/>
            <a:ext cx="4025153" cy="2133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Important Regulations</a:t>
            </a: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GDPR (European Union)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CCPA / CCPR (California, USA)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EU AI Act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Digital Services Act </a:t>
            </a:r>
          </a:p>
          <a:p>
            <a:r>
              <a:rPr lang="en-IN" b="1" dirty="0"/>
              <a:t>Organizational Actions</a:t>
            </a: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Ethical AI practices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Employee training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Data security &amp; audits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Responsible data governance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3EE643B-04F1-2E6C-ABBA-C24B62617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4929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41FC8-A528-D81E-E7C5-E57E72ECEBE1}"/>
              </a:ext>
            </a:extLst>
          </p:cNvPr>
          <p:cNvSpPr/>
          <p:nvPr/>
        </p:nvSpPr>
        <p:spPr>
          <a:xfrm>
            <a:off x="1622611" y="367554"/>
            <a:ext cx="6606989" cy="95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Ethics in Web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Ethical data collection = collecting only necessary, authorized, and secure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Focuses on privacy, transparency, fairness, and accountability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Guided by laws like GDPR, CCPA, and DPDP 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5BBAE-F53E-F0D5-C90C-D339523FCDD4}"/>
              </a:ext>
            </a:extLst>
          </p:cNvPr>
          <p:cNvSpPr/>
          <p:nvPr/>
        </p:nvSpPr>
        <p:spPr>
          <a:xfrm>
            <a:off x="1048870" y="1555378"/>
            <a:ext cx="6974542" cy="1344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Core Principles of Ethical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Purpose limitation → collect data for a clear business need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Consent &amp; legitimacy → respect Terms of Service and user rights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minimization → collect only required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Transparency → maintain documentation and audit trails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Security → encrypt, restrict access, and safely delete data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A2B6C-6226-5EF5-B8A7-3B7F8A97AEC3}"/>
              </a:ext>
            </a:extLst>
          </p:cNvPr>
          <p:cNvSpPr/>
          <p:nvPr/>
        </p:nvSpPr>
        <p:spPr>
          <a:xfrm>
            <a:off x="726140" y="3128686"/>
            <a:ext cx="4401672" cy="1766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Risks of Unethical 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Privacy violations and data breaches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Biased or misleading AI outcomes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Legal penalties and compliance failures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Loss of customer trust and brand reputation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Website bans and blacklisting from scraping activities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1151A4-9C9D-33DF-0BC7-21D0AD67B8DC}"/>
              </a:ext>
            </a:extLst>
          </p:cNvPr>
          <p:cNvSpPr/>
          <p:nvPr/>
        </p:nvSpPr>
        <p:spPr>
          <a:xfrm>
            <a:off x="5468470" y="3128686"/>
            <a:ext cx="6320118" cy="1766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Ethical Data Collection Best Practices</a:t>
            </a:r>
          </a:p>
          <a:p>
            <a:r>
              <a:rPr lang="en-US" sz="1400" dirty="0"/>
              <a:t>Review websites before scraping </a:t>
            </a:r>
          </a:p>
          <a:p>
            <a:r>
              <a:rPr lang="en-US" sz="1400" dirty="0"/>
              <a:t>Follow robots.txt and rate limits </a:t>
            </a:r>
          </a:p>
          <a:p>
            <a:r>
              <a:rPr lang="en-US" sz="1400" dirty="0"/>
              <a:t>Validate and clean collected data </a:t>
            </a:r>
          </a:p>
          <a:p>
            <a:r>
              <a:rPr lang="en-US" sz="1400" dirty="0"/>
              <a:t>Remove personal identifiers (PII) </a:t>
            </a:r>
          </a:p>
          <a:p>
            <a:r>
              <a:rPr lang="en-US" sz="1400" dirty="0"/>
              <a:t>Maintain secure storage and retention policies </a:t>
            </a:r>
          </a:p>
          <a:p>
            <a:r>
              <a:rPr lang="en-US" sz="1400" dirty="0"/>
              <a:t>Conduct regular compliance audits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13138-47F8-196B-E741-714DD6E3E3B7}"/>
              </a:ext>
            </a:extLst>
          </p:cNvPr>
          <p:cNvSpPr/>
          <p:nvPr/>
        </p:nvSpPr>
        <p:spPr>
          <a:xfrm>
            <a:off x="6974541" y="5280212"/>
            <a:ext cx="4661647" cy="1443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Future of Data Ethics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Stronger global regulations on AI and privacy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Greater focus on accountability and explainable AI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Ethical governance becoming a competitive advantage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Businesses using responsible data practices gain long-term trust and scalability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F653E-9F63-B7E0-CB6A-A2D3B8034CB7}"/>
              </a:ext>
            </a:extLst>
          </p:cNvPr>
          <p:cNvSpPr/>
          <p:nvPr/>
        </p:nvSpPr>
        <p:spPr>
          <a:xfrm>
            <a:off x="726140" y="4984383"/>
            <a:ext cx="5369860" cy="1810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Ethics and AI/ML</a:t>
            </a:r>
          </a:p>
          <a:p>
            <a:r>
              <a:rPr lang="en-US" sz="1200" dirty="0"/>
              <a:t>AI systems depend on ethical, unbiased datasets </a:t>
            </a:r>
          </a:p>
          <a:p>
            <a:r>
              <a:rPr lang="en-US" sz="1200" dirty="0"/>
              <a:t>Poor-quality or biased data leads to unfair AI decisions </a:t>
            </a:r>
          </a:p>
          <a:p>
            <a:r>
              <a:rPr lang="en-US" dirty="0"/>
              <a:t>Ethical data improves: </a:t>
            </a:r>
          </a:p>
          <a:p>
            <a:pPr lvl="1"/>
            <a:r>
              <a:rPr lang="en-US" sz="1200" dirty="0"/>
              <a:t>Model accuracy </a:t>
            </a:r>
          </a:p>
          <a:p>
            <a:pPr lvl="1"/>
            <a:r>
              <a:rPr lang="en-US" sz="1200" dirty="0"/>
              <a:t>Transparency </a:t>
            </a:r>
          </a:p>
          <a:p>
            <a:pPr lvl="1"/>
            <a:r>
              <a:rPr lang="en-US" sz="1200" dirty="0"/>
              <a:t>Regulatory compliance </a:t>
            </a:r>
          </a:p>
          <a:p>
            <a:pPr lvl="1"/>
            <a:r>
              <a:rPr lang="en-US" sz="1200" dirty="0"/>
              <a:t>User trust</a:t>
            </a:r>
          </a:p>
        </p:txBody>
      </p:sp>
    </p:spTree>
    <p:extLst>
      <p:ext uri="{BB962C8B-B14F-4D97-AF65-F5344CB8AC3E}">
        <p14:creationId xmlns:p14="http://schemas.microsoft.com/office/powerpoint/2010/main" val="30743635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DD9EBBCB-8975-3A48-9A9D-8C9CA060A502}"/>
              </a:ext>
            </a:extLst>
          </p:cNvPr>
          <p:cNvSpPr/>
          <p:nvPr/>
        </p:nvSpPr>
        <p:spPr>
          <a:xfrm>
            <a:off x="618565" y="152401"/>
            <a:ext cx="4043082" cy="6275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Ethical Challenges in Data Handling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B39CD-3C44-3D9C-480F-6D8826DFA2FA}"/>
              </a:ext>
            </a:extLst>
          </p:cNvPr>
          <p:cNvSpPr/>
          <p:nvPr/>
        </p:nvSpPr>
        <p:spPr>
          <a:xfrm>
            <a:off x="618565" y="914400"/>
            <a:ext cx="3720353" cy="201705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Bias in AI and algorithms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Complex data-sharing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Balancing innovation with ethics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Regulatory and compliance difficulties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Risks from unauthorized access or breaches 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FF6E887-CB6C-307B-FA20-F080CF9CE335}"/>
              </a:ext>
            </a:extLst>
          </p:cNvPr>
          <p:cNvSpPr/>
          <p:nvPr/>
        </p:nvSpPr>
        <p:spPr>
          <a:xfrm>
            <a:off x="5880847" y="412376"/>
            <a:ext cx="4043082" cy="6275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Privacy &amp; Security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900F9C0-BD52-5127-2C79-9706073F0B38}"/>
              </a:ext>
            </a:extLst>
          </p:cNvPr>
          <p:cNvSpPr/>
          <p:nvPr/>
        </p:nvSpPr>
        <p:spPr>
          <a:xfrm>
            <a:off x="5163671" y="4410635"/>
            <a:ext cx="4043082" cy="6275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Consequences of Unethical Practices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A2697D9-DD71-2E1C-DCBB-9BBA49B9DC03}"/>
              </a:ext>
            </a:extLst>
          </p:cNvPr>
          <p:cNvSpPr/>
          <p:nvPr/>
        </p:nvSpPr>
        <p:spPr>
          <a:xfrm>
            <a:off x="618565" y="3612777"/>
            <a:ext cx="4043082" cy="6275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Building an Ethical Data Framework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394B9A-A6E3-2BE9-3319-29B143071C5C}"/>
              </a:ext>
            </a:extLst>
          </p:cNvPr>
          <p:cNvSpPr/>
          <p:nvPr/>
        </p:nvSpPr>
        <p:spPr>
          <a:xfrm>
            <a:off x="5961529" y="1174376"/>
            <a:ext cx="3810000" cy="201705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Protect sensitive personal data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Use anonymization and pseudonymization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Restrict unauthorized access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Maintain secure storage and confidentiality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Ensure ethical data sharing practices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D08B0-FEB8-D886-F1FE-6898599A52A7}"/>
              </a:ext>
            </a:extLst>
          </p:cNvPr>
          <p:cNvSpPr/>
          <p:nvPr/>
        </p:nvSpPr>
        <p:spPr>
          <a:xfrm>
            <a:off x="5163671" y="5118846"/>
            <a:ext cx="3810000" cy="156882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Loss of customer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Legal fines and penalties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Reputational damage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Bias and unfair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Financial and operational risks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D7AB8D-6771-09BF-140B-7A95A31D8739}"/>
              </a:ext>
            </a:extLst>
          </p:cNvPr>
          <p:cNvSpPr/>
          <p:nvPr/>
        </p:nvSpPr>
        <p:spPr>
          <a:xfrm>
            <a:off x="618565" y="4320988"/>
            <a:ext cx="3810000" cy="238461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Collect only necessary data (data minimization)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data for legitimate purposes only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clear governance policies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Conduct regular monitoring and audits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 employees on ethical data practices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D877445-41A0-6AAA-6DC4-9E553D5D7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8CC850DB-7273-949F-6324-DE94056CF99A}"/>
              </a:ext>
            </a:extLst>
          </p:cNvPr>
          <p:cNvSpPr/>
          <p:nvPr/>
        </p:nvSpPr>
        <p:spPr>
          <a:xfrm>
            <a:off x="9296400" y="3128682"/>
            <a:ext cx="2823882" cy="2554942"/>
          </a:xfrm>
          <a:prstGeom prst="wedgeEllipseCallou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Ethical data practices support fairness, trust, and accountability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Strong governance improves compliance and data security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Responsible data use creates sustainable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2639985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A017E-A8D0-AD1F-B2D4-26B59A61026F}"/>
              </a:ext>
            </a:extLst>
          </p:cNvPr>
          <p:cNvSpPr/>
          <p:nvPr/>
        </p:nvSpPr>
        <p:spPr>
          <a:xfrm>
            <a:off x="430306" y="770965"/>
            <a:ext cx="9583270" cy="1129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Algerian" panose="04020705040A02060702" pitchFamily="82" charset="0"/>
              </a:rPr>
              <a:t>Anonymization</a:t>
            </a:r>
          </a:p>
          <a:p>
            <a:r>
              <a:rPr lang="en-US" dirty="0"/>
              <a:t>Data is altered so individuals cannot realistically be identified.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No longer considered personal data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243CE-BCC3-3AA5-9E92-CE4CC1B7BA39}"/>
              </a:ext>
            </a:extLst>
          </p:cNvPr>
          <p:cNvSpPr/>
          <p:nvPr/>
        </p:nvSpPr>
        <p:spPr>
          <a:xfrm>
            <a:off x="430306" y="2070847"/>
            <a:ext cx="9646023" cy="1210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Algerian" panose="04020705040A02060702" pitchFamily="82" charset="0"/>
              </a:rPr>
              <a:t>Pseudonymization</a:t>
            </a:r>
          </a:p>
          <a:p>
            <a:r>
              <a:rPr lang="en-US" dirty="0"/>
              <a:t>Identifiers are replaced, but re-identification is still possible using a separate key.</a:t>
            </a:r>
          </a:p>
          <a:p>
            <a:r>
              <a:rPr lang="en-US" dirty="0"/>
              <a:t>Result:</a:t>
            </a:r>
          </a:p>
          <a:p>
            <a:r>
              <a:rPr lang="en-US" dirty="0"/>
              <a:t>Safer, but still regulated as personal data 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0711819-D8CE-9D10-2FFF-B7341149B517}"/>
              </a:ext>
            </a:extLst>
          </p:cNvPr>
          <p:cNvSpPr/>
          <p:nvPr/>
        </p:nvSpPr>
        <p:spPr>
          <a:xfrm>
            <a:off x="430306" y="134472"/>
            <a:ext cx="6033247" cy="46616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Algerian" panose="04020705040A02060702" pitchFamily="82" charset="0"/>
              </a:rPr>
              <a:t>Anonymization vs Pseudonymization 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F40A4BD9-6122-5652-F8A6-1C346A32E7F9}"/>
              </a:ext>
            </a:extLst>
          </p:cNvPr>
          <p:cNvSpPr/>
          <p:nvPr/>
        </p:nvSpPr>
        <p:spPr>
          <a:xfrm>
            <a:off x="430306" y="3428999"/>
            <a:ext cx="5020235" cy="54236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lgerian" panose="04020705040A02060702" pitchFamily="82" charset="0"/>
              </a:rPr>
              <a:t>GDPR vs CCPA/CPRA – Key Differences</a:t>
            </a:r>
            <a:endParaRPr lang="en-IN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83CDC7-8295-1253-E69C-0800BCC5C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565825"/>
              </p:ext>
            </p:extLst>
          </p:nvPr>
        </p:nvGraphicFramePr>
        <p:xfrm>
          <a:off x="430306" y="4173069"/>
          <a:ext cx="5020236" cy="2357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412">
                  <a:extLst>
                    <a:ext uri="{9D8B030D-6E8A-4147-A177-3AD203B41FA5}">
                      <a16:colId xmlns:a16="http://schemas.microsoft.com/office/drawing/2014/main" val="722372113"/>
                    </a:ext>
                  </a:extLst>
                </a:gridCol>
                <a:gridCol w="1673412">
                  <a:extLst>
                    <a:ext uri="{9D8B030D-6E8A-4147-A177-3AD203B41FA5}">
                      <a16:colId xmlns:a16="http://schemas.microsoft.com/office/drawing/2014/main" val="3458799255"/>
                    </a:ext>
                  </a:extLst>
                </a:gridCol>
                <a:gridCol w="1673412">
                  <a:extLst>
                    <a:ext uri="{9D8B030D-6E8A-4147-A177-3AD203B41FA5}">
                      <a16:colId xmlns:a16="http://schemas.microsoft.com/office/drawing/2014/main" val="377715575"/>
                    </a:ext>
                  </a:extLst>
                </a:gridCol>
              </a:tblGrid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GDPR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CCPA/CPRA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35096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European 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California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154019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Applies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Anyone processing EU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Businesses handling California residents’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441221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Consent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Opt-in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Opt-out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1476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184342-1EF9-6C7D-98D1-FBCA96433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08418"/>
              </p:ext>
            </p:extLst>
          </p:nvPr>
        </p:nvGraphicFramePr>
        <p:xfrm>
          <a:off x="6015317" y="4240528"/>
          <a:ext cx="5020236" cy="229048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73412">
                  <a:extLst>
                    <a:ext uri="{9D8B030D-6E8A-4147-A177-3AD203B41FA5}">
                      <a16:colId xmlns:a16="http://schemas.microsoft.com/office/drawing/2014/main" val="722372113"/>
                    </a:ext>
                  </a:extLst>
                </a:gridCol>
                <a:gridCol w="1673412">
                  <a:extLst>
                    <a:ext uri="{9D8B030D-6E8A-4147-A177-3AD203B41FA5}">
                      <a16:colId xmlns:a16="http://schemas.microsoft.com/office/drawing/2014/main" val="3264790566"/>
                    </a:ext>
                  </a:extLst>
                </a:gridCol>
                <a:gridCol w="1673412">
                  <a:extLst>
                    <a:ext uri="{9D8B030D-6E8A-4147-A177-3AD203B41FA5}">
                      <a16:colId xmlns:a16="http://schemas.microsoft.com/office/drawing/2014/main" val="377715575"/>
                    </a:ext>
                  </a:extLst>
                </a:gridCol>
              </a:tblGrid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 protection and consent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Consumer rights and 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35096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Very broad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More business-threshold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529330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Penalties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Lower than GDPR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576322"/>
                  </a:ext>
                </a:extLst>
              </a:tr>
              <a:tr h="572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Stronger user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Consumer-focused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827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3758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A95F94C-C956-2788-3196-B6091A43EAB9}"/>
              </a:ext>
            </a:extLst>
          </p:cNvPr>
          <p:cNvSpPr/>
          <p:nvPr/>
        </p:nvSpPr>
        <p:spPr>
          <a:xfrm>
            <a:off x="475129" y="367553"/>
            <a:ext cx="4491318" cy="63649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Algerian" panose="04020705040A02060702" pitchFamily="82" charset="0"/>
              </a:rPr>
              <a:t>GDPR Highlights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479C893-F4A3-F651-1A00-E67BCFFAD80F}"/>
              </a:ext>
            </a:extLst>
          </p:cNvPr>
          <p:cNvSpPr/>
          <p:nvPr/>
        </p:nvSpPr>
        <p:spPr>
          <a:xfrm>
            <a:off x="5423647" y="376518"/>
            <a:ext cx="4491318" cy="63649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>
                <a:latin typeface="Algerian" panose="04020705040A02060702" pitchFamily="82" charset="0"/>
              </a:rPr>
              <a:t>CCPA / CPRA Highlights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F9A6A-5579-42B3-D7B5-49C2484038F6}"/>
              </a:ext>
            </a:extLst>
          </p:cNvPr>
          <p:cNvSpPr/>
          <p:nvPr/>
        </p:nvSpPr>
        <p:spPr>
          <a:xfrm>
            <a:off x="475129" y="1093694"/>
            <a:ext cx="4195483" cy="28597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The General Data Protection Regulation emphasizes: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Consent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Transparency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Accountability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Right to deletion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portability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Privacy by design </a:t>
            </a:r>
          </a:p>
          <a:p>
            <a:r>
              <a:rPr lang="en-US" dirty="0">
                <a:solidFill>
                  <a:schemeClr val="bg1"/>
                </a:solidFill>
              </a:rPr>
              <a:t>Penalties can reach: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€20 million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4% of global annual turnover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034FB-CED7-B3EE-37BC-7E23B3C4F58E}"/>
              </a:ext>
            </a:extLst>
          </p:cNvPr>
          <p:cNvSpPr/>
          <p:nvPr/>
        </p:nvSpPr>
        <p:spPr>
          <a:xfrm>
            <a:off x="5423647" y="1093694"/>
            <a:ext cx="4195483" cy="28597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The California Consumer Privacy Act gives California residents rights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Right to know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Right to access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Right to delete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Right to opt out of sale/sharing </a:t>
            </a:r>
          </a:p>
          <a:p>
            <a:r>
              <a:rPr lang="en-US" dirty="0">
                <a:solidFill>
                  <a:schemeClr val="bg1"/>
                </a:solidFill>
              </a:rPr>
              <a:t>The CPRA later expanded protections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Adding sensitive personal information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Creating the California Privacy Protection Agency 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6392B07-306A-26CA-24A1-A8113711B948}"/>
              </a:ext>
            </a:extLst>
          </p:cNvPr>
          <p:cNvSpPr/>
          <p:nvPr/>
        </p:nvSpPr>
        <p:spPr>
          <a:xfrm>
            <a:off x="591671" y="4105835"/>
            <a:ext cx="6777317" cy="53788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Algerian" panose="04020705040A02060702" pitchFamily="82" charset="0"/>
              </a:rPr>
              <a:t>Similarities Between GDPR and CCPA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741BE-5402-39B3-02AD-E9F0FB6ECEDF}"/>
              </a:ext>
            </a:extLst>
          </p:cNvPr>
          <p:cNvSpPr/>
          <p:nvPr/>
        </p:nvSpPr>
        <p:spPr>
          <a:xfrm>
            <a:off x="591671" y="4715435"/>
            <a:ext cx="6535270" cy="19453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Both: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Protect consumer privacy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Require transparency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Give users control over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Apply extraterritorially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Impose penalties for violations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Require businesses to manage data responsibly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FA87FF5-9EBF-3570-3644-6B1A6CBB3AF8}"/>
              </a:ext>
            </a:extLst>
          </p:cNvPr>
          <p:cNvSpPr/>
          <p:nvPr/>
        </p:nvSpPr>
        <p:spPr>
          <a:xfrm>
            <a:off x="8229600" y="4392706"/>
            <a:ext cx="3012141" cy="2088776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Ethical data practices are becoming essential for modern business, governance, AI development, and digital trust.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4746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1C090EB-5662-F88C-8746-CFB4DB774EB5}"/>
              </a:ext>
            </a:extLst>
          </p:cNvPr>
          <p:cNvSpPr/>
          <p:nvPr/>
        </p:nvSpPr>
        <p:spPr>
          <a:xfrm>
            <a:off x="887506" y="457200"/>
            <a:ext cx="6687670" cy="77096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From Compliance to Culture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81BBB6-3653-A885-94B5-85052EE3CC57}"/>
              </a:ext>
            </a:extLst>
          </p:cNvPr>
          <p:cNvSpPr/>
          <p:nvPr/>
        </p:nvSpPr>
        <p:spPr>
          <a:xfrm>
            <a:off x="887506" y="1353671"/>
            <a:ext cx="6158753" cy="528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Responsible Data Practices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14606B-0AC6-861E-2AE5-1A924D5EDBC0}"/>
              </a:ext>
            </a:extLst>
          </p:cNvPr>
          <p:cNvSpPr/>
          <p:nvPr/>
        </p:nvSpPr>
        <p:spPr>
          <a:xfrm>
            <a:off x="887506" y="2070847"/>
            <a:ext cx="6624918" cy="1228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is a valuable digital asset.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Organizations must move beyond compliance.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Responsible data practices build trust and transparency</a:t>
            </a:r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E18898-E6DB-D4D1-D3BE-B7748B8149C1}"/>
              </a:ext>
            </a:extLst>
          </p:cNvPr>
          <p:cNvSpPr/>
          <p:nvPr/>
        </p:nvSpPr>
        <p:spPr>
          <a:xfrm>
            <a:off x="887506" y="3429000"/>
            <a:ext cx="6624918" cy="1228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What are Responsible Data Practices?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Ethical collection and use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Protection of privacy and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Fair and transparent data handling</a:t>
            </a:r>
            <a:r>
              <a:rPr lang="en-US" dirty="0"/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31B533-3DAB-AF10-B48E-AB58CF13AA8F}"/>
              </a:ext>
            </a:extLst>
          </p:cNvPr>
          <p:cNvSpPr/>
          <p:nvPr/>
        </p:nvSpPr>
        <p:spPr>
          <a:xfrm>
            <a:off x="8193740" y="1801906"/>
            <a:ext cx="3541059" cy="28328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Core Principles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/>
              <a:t>Privacy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/>
              <a:t>Transparency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/>
              <a:t>Accountability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/>
              <a:t>Fairness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/>
              <a:t>Security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30E83-D15A-D6F1-DEA6-60BC09218A9F}"/>
              </a:ext>
            </a:extLst>
          </p:cNvPr>
          <p:cNvSpPr/>
          <p:nvPr/>
        </p:nvSpPr>
        <p:spPr>
          <a:xfrm>
            <a:off x="896471" y="4787153"/>
            <a:ext cx="6687670" cy="132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Importance of Responsible Data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Builds customer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compliance with GDPR and CCPA.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Improves data quality and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legal and reputational risks.</a:t>
            </a:r>
          </a:p>
        </p:txBody>
      </p:sp>
    </p:spTree>
    <p:extLst>
      <p:ext uri="{BB962C8B-B14F-4D97-AF65-F5344CB8AC3E}">
        <p14:creationId xmlns:p14="http://schemas.microsoft.com/office/powerpoint/2010/main" val="71041893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782394FE-A9B7-F4E9-316B-9F7DB78C34E1}"/>
              </a:ext>
            </a:extLst>
          </p:cNvPr>
          <p:cNvSpPr/>
          <p:nvPr/>
        </p:nvSpPr>
        <p:spPr>
          <a:xfrm>
            <a:off x="502024" y="304800"/>
            <a:ext cx="3890682" cy="2375647"/>
          </a:xfrm>
          <a:prstGeom prst="hexagon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Implementation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 a Data Management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strong privacy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 security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Respect user consent and rights.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Conduct regular audits</a:t>
            </a:r>
            <a:endParaRPr lang="en-IN" sz="1400" dirty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8EF57B73-DC78-2BCC-DE57-AF05FF89E362}"/>
              </a:ext>
            </a:extLst>
          </p:cNvPr>
          <p:cNvSpPr/>
          <p:nvPr/>
        </p:nvSpPr>
        <p:spPr>
          <a:xfrm>
            <a:off x="4697506" y="295836"/>
            <a:ext cx="3639671" cy="2384611"/>
          </a:xfrm>
          <a:prstGeom prst="hexagon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Role of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Encryption protects sensitive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Automation supports compliance.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User-centric design improves privacy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BB54C-2C77-95B1-6EF7-6946B2C5FBA1}"/>
              </a:ext>
            </a:extLst>
          </p:cNvPr>
          <p:cNvSpPr/>
          <p:nvPr/>
        </p:nvSpPr>
        <p:spPr>
          <a:xfrm>
            <a:off x="502024" y="2985247"/>
            <a:ext cx="3890682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Rapid technological change.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Complex regulations.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Balancing privacy with innovation.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Data bias and discrimination.</a:t>
            </a:r>
          </a:p>
        </p:txBody>
      </p:sp>
      <p:sp>
        <p:nvSpPr>
          <p:cNvPr id="5" name="Arrow: Notched Right 4">
            <a:extLst>
              <a:ext uri="{FF2B5EF4-FFF2-40B4-BE49-F238E27FC236}">
                <a16:creationId xmlns:a16="http://schemas.microsoft.com/office/drawing/2014/main" id="{E47D4445-0B21-8C2D-6334-CD7D0F3A4E65}"/>
              </a:ext>
            </a:extLst>
          </p:cNvPr>
          <p:cNvSpPr/>
          <p:nvPr/>
        </p:nvSpPr>
        <p:spPr>
          <a:xfrm>
            <a:off x="4697506" y="3352800"/>
            <a:ext cx="1757082" cy="788894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CAB190-E800-7B21-4C5F-8BF6AC8C5E7E}"/>
              </a:ext>
            </a:extLst>
          </p:cNvPr>
          <p:cNvSpPr/>
          <p:nvPr/>
        </p:nvSpPr>
        <p:spPr>
          <a:xfrm>
            <a:off x="6858000" y="2572871"/>
            <a:ext cx="4159624" cy="21873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Strategies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Build governance frameworks.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Educate employees regularly.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Promote accountability.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Engage stakeholders</a:t>
            </a:r>
            <a:r>
              <a:rPr lang="en-US" dirty="0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DDFDCC-9E9B-E20F-5F1F-F07A7FFEF1A2}"/>
              </a:ext>
            </a:extLst>
          </p:cNvPr>
          <p:cNvSpPr/>
          <p:nvPr/>
        </p:nvSpPr>
        <p:spPr>
          <a:xfrm>
            <a:off x="367553" y="4957482"/>
            <a:ext cx="10264588" cy="1604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3DF68-2C39-AE0B-5708-14F26AF156E2}"/>
              </a:ext>
            </a:extLst>
          </p:cNvPr>
          <p:cNvSpPr/>
          <p:nvPr/>
        </p:nvSpPr>
        <p:spPr>
          <a:xfrm>
            <a:off x="3316941" y="5226423"/>
            <a:ext cx="7073153" cy="1192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Responsible data practices build trust and sustainability.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Ethics, transparency, and security are essential.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strong data culture supports long-term success.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69C3B2-9115-793C-4B43-B34DC20B3796}"/>
              </a:ext>
            </a:extLst>
          </p:cNvPr>
          <p:cNvSpPr/>
          <p:nvPr/>
        </p:nvSpPr>
        <p:spPr>
          <a:xfrm>
            <a:off x="874059" y="5127814"/>
            <a:ext cx="2084294" cy="11923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28552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3477</TotalTime>
  <Words>8808</Words>
  <Application>Microsoft Office PowerPoint</Application>
  <PresentationFormat>Widescreen</PresentationFormat>
  <Paragraphs>1996</Paragraphs>
  <Slides>106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4" baseType="lpstr">
      <vt:lpstr>Algerian</vt:lpstr>
      <vt:lpstr>Arial</vt:lpstr>
      <vt:lpstr>Arial Black</vt:lpstr>
      <vt:lpstr>Arial Rounded MT Bold</vt:lpstr>
      <vt:lpstr>Century Gothic</vt:lpstr>
      <vt:lpstr>Wingdings</vt:lpstr>
      <vt:lpstr>Wingdings 3</vt:lpstr>
      <vt:lpstr>Ion</vt:lpstr>
      <vt:lpstr>Why Information Technology (IT) Matters</vt:lpstr>
      <vt:lpstr> </vt:lpstr>
      <vt:lpstr>Hardware vs Software </vt:lpstr>
      <vt:lpstr>Core Functions of Information Technology </vt:lpstr>
      <vt:lpstr>PowerPoint Presentation</vt:lpstr>
      <vt:lpstr>PowerPoint Presentation</vt:lpstr>
      <vt:lpstr>The Role of Information Technology in Modern Business  Information Technology plays a vital role in modern business by improving communication, efficiency, data management, security, and overall organizational growth.</vt:lpstr>
      <vt:lpstr> 🌐 Introduction  IT plays a major role in modern businesses  Helps companies operate faster and smarter  Improves communication, security, and efficiency  Supports growth and innovation in the digital world  </vt:lpstr>
      <vt:lpstr>PowerPoint Presentation</vt:lpstr>
      <vt:lpstr>💬 Enhanced Communication </vt:lpstr>
      <vt:lpstr>📊 Data Management and Analysis</vt:lpstr>
      <vt:lpstr>🤝 Enhanced Customer Engagement</vt:lpstr>
      <vt:lpstr>💡 Innovation and Competitive Advantage</vt:lpstr>
      <vt:lpstr>📦 Supply Chain Management</vt:lpstr>
      <vt:lpstr>🔒 Security and Risk Management</vt:lpstr>
      <vt:lpstr>💰 Cost Reduction</vt:lpstr>
      <vt:lpstr>✅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Tips for Choosing an ERP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AISWARJA ROY</dc:creator>
  <cp:lastModifiedBy>AISWARJA ROY</cp:lastModifiedBy>
  <cp:revision>6</cp:revision>
  <dcterms:created xsi:type="dcterms:W3CDTF">2026-05-12T02:05:18Z</dcterms:created>
  <dcterms:modified xsi:type="dcterms:W3CDTF">2026-05-16T04:19:37Z</dcterms:modified>
</cp:coreProperties>
</file>